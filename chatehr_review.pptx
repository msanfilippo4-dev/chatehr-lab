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2" r:id="rId5"/>
  </p:sldMasterIdLst>
  <p:notesMasterIdLst>
    <p:notesMasterId r:id="rId6"/>
  </p:notesMasterIdLst>
  <p:sldIdLst>
    <p:sldId id="256" r:id="rId10"/>
    <p:sldId id="257" r:id="rId11"/>
    <p:sldId id="258" r:id="rId12"/>
    <p:sldId id="259" r:id="rId13"/>
    <p:sldId id="260" r:id="rId14"/>
    <p:sldId id="261" r:id="rId15"/>
    <p:sldId id="262" r:id="rId9"/>
    <p:sldId id="263" r:id="rId8"/>
    <p:sldId id="264" r:id="rId7"/>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Lst>
  <p:sldSz cy="10287000" cx="18288000"/>
  <p:notesSz cx="6858000" cy="9144000"/>
  <p:embeddedFontLst>
    <p:embeddedFont>
      <p:font typeface="Montserrat Black"/>
      <p:bold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456">
          <p15:clr>
            <a:srgbClr val="A4A3A4"/>
          </p15:clr>
        </p15:guide>
      </p15:sldGuideLst>
    </p:ext>
    <p:ext uri="GoogleSlidesCustomDataVersion2">
      <go:slidesCustomData xmlns:go="http://customooxmlschemas.google.com/" r:id="rId18" roundtripDataSignature="AMtx7mjO4IcTcAI6NK5b9o572EJ0MEig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45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font" Target="fonts/MontserratBlack-bold.fntdata"/><Relationship Id="rId17" Type="http://schemas.openxmlformats.org/officeDocument/2006/relationships/font" Target="fonts/MontserratBlack-boldItalic.fntdata"/><Relationship Id="rId18" Type="http://customschemas.google.com/relationships/presentationmetadata" Target="metadata"/><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back. Last week you got your hands on a simulated EHR with a Gemini-powered clinical assistant, and I've now read through all 23 of your submissions. Today we're going to debrief — go over the correct answers for each case, highlight the strongest responses, and lock in the key lessons about AI-assisted clinical decision-making. Let's get into it.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what you did last week. Three patients, three missions, 60 minutes. Each mission tested something different. Eleanor was about catching an unsafe medication recommendation. Marcus was about seeing the difference RAG makes. And Chloe was about the privacy tradeoff — how much context should the AI actually see? You worked in teams with rotating roles, and every team submitted a scored reflection. Let's see how you did.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here's the big picture. Most of you scored in the high 80s to 100 range, which tells me you understood the core concepts. Brenda's team hit 100 on their best submission. A few of you submitted multiple times as you refined your answers, which is exactly what I wanted — that iterative improvement is part of the learning. The scores here show your single best submission.</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Ten of you submitted, and several submitted more than once. That's 23 total reflections I read through. Three of you attempted the Health Bench — that's the advanced task where you evaluated the AI's clinical reasoning against a rubric. And Brenda went further with the extra credit, doing a population-level analysis on the Bronx patient panel. I'm going to highlight specific responses as we go through each case.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Alright, let's start with Eleanor. This was the medication safety case. Your job was to ask the AI assistant about pain management for a heart failure patient and then evaluate whether its recommendation was safe.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Eleanor at a glance. 71-year-old woman with heart failure and hypertension. Her structured labs from March 1 show a creatinine of 1.4 — that's already borderline — a BNP of 350, and a potassium of 4.2 which looks normal. She's on Carvedilol, Lisinopril, and Furosemide — that's a beta blocker, an ACE inhibitor, and a loop diuretic. And notice that Spironolactone is listed as discontinued. Hold onto that — it matters.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core teaching point. If the AI recommended NSAIDs — ibuprofen, naproxen, anything in that class — that's a safety issue. Eleanor is already on an ACE inhibitor and a diuretic. You add an NSAID to that combination and you get what's called the 'Triple Whammy' — three drugs that all reduce renal perfusion in different ways. With her creatinine already at 1.4, that's a real risk for acute kidney injury. The safe answer is acetaminophen as first-line, or topical options.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me highlight a few standout answers. NYR2's group nailed the triple whammy identification and didn't just name it — they cited the BNP of 350 as evidence that her heart failure is active, which makes the NSAID risk even worse. Penelope and Natalie caught something else: the spironolactone restart risk. Even though it's discontinued, some of your AI assistants suggested restarting it. But the visit notes reveal her potassium was 5.8 — that's dangerously high for someone on an ACE inhibitor. And Matias gave a really clean, specific warning about potassium supplements.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the hidden lesson in this case, and it's one of the most important takeaways from the whole lab. The Labs tab shows potassium of 4.2 — that's from March 1, and it looks perfectly normal. But if you read the visit note from March 15 — the plan and notes sections — Dr. Chen mentions that outside labs drawn three days earlier showed a potassium of 5.8. That's a critically different number. The structured data and the narrative data tell different stories, and the newer, more dangerous value is buried in the note. This is exactly what happens in real EHRs. The AI assistant with RAG can surface this, but you as the clinician need to know where to look.</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here are your takeaways from Eleanor. First, specificity matters — cite the actual values, dates, and medications. Second, the Labs tab doesn't have the full picture. The visit notes contain values that haven't been entered as structured data yet. Third, just because a medication is discontinued doesn't mean the AI or you should recommend restarting it without checking why it was stopped. And fourth, the triple whammy and the K+ 5.8 — these are the kind of patterns that a well-informed clinician catches. The AI can help surface them, but only if you're reading critically.</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let's talk about Marcus. This was the RAG comparison case. You ran the same clinical question with RAG turned off and then on, and compared the responses. This is where a lot of you had real 'aha' moments.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Marcus is a 57-year-old man with type 2 diabetes and hyperlipidemia. His structured labs show fasting glucose of 165 — that's high — and total cholesterol of 210. Creatinine is normal at 0.9. He's on Metformin 1000mg twice daily and Atorvastatin 40mg. And he has a sulfa allergy. But here's the key: his HbA1c of 8.7% and LDL of 142 are NOT in the Labs tab. They only appear in the visit note, where the provider mentions they came from point-of-care labs done by his cardiologist.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the comparison side by side. With RAG off, the AI gives you textbook guidelines. 'Consider checking HbA1c.' 'If lipids are elevated, may need to '— it hedges constantly because it has no patient data to ground on. Everything is conditional. With RAG on, it can see Marcus's chart. It says, 'HbA1c is 8.7 percent, above the ADA target of 7 percent. Recommend adding a GLP-1 receptor agonist.' It cites the LDL of 142 and suggests escalating statin therapy. Night and day difference. The language shifts from uncertain to confident, from generic to specific.</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Across your submissions, a few themes jumped out. Everyone noticed the specificity increase — that's the obvious one. But several of you caught subtler things. The language shift from hedging to confident. The fact that RAG ON could pull HbA1c and LDL from the visit note even though they weren't in the structured labs. And some of you noticed that RAG ON correctly flagged the sulfa allergy when suggesting medications — that's the kind of safety check that only works when the AI can actually see the chart.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quotes that stuck with me. Brenda's is probably the most quotable — 'RAG OFF is honest but clinically useless.' That's a perfect summary. The AI isn't wrong when RAG is off — it's just so generic that it can't help you make a decision for this specific patient. Matias noticed the grounding difference and the language certainty shift. And James did something really impressive — he built a structured comparison where he checked each recommendation against the actual chart evidence. That's the kind of systematic evaluation we want to see.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But here's the catch, and Brenda nailed it in her submission. RAG ON makes the AI sound more confident. It cites specific values, gives specific recommendations. But what if the retrieval missed something? What if there's a relevant lab or a contraindication that didn't get pulled into the context window? The AI won't say, 'Hey, I might be missing something.' It'll just give you a confident answer based on incomplete data. That's what Brenda calls 'false confidence from incomplete retrieval.' And that's why the clinician still has to verify. RAG makes the AI more useful, but it doesn't make it infallible.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your takeaways for Marcus. RAG is a massive improvement — no question. But it's an improvement that comes with a new risk: overconfidence. The shift from 'consider checking' to 'HbA1c is 8.7 percent' feels authoritative. And it is grounded in real data. But grounded doesn't mean complete, and complete doesn't mean correct. Your job as the clinician is to use that grounded information as a starting point, not an endpoint.</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last case. Chloe was the privacy decision. This one had no single right answer — it was about reasoning through the tradeoff between clinical usefulness and privacy exposure.</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Chloe is 27, being treated for severe acne with Isotretinoin — that's Accutane — which is a Category X teratogen. It causes severe birth defects. And she just had a positive pregnancy test — hCG of 450. She's also on birth control, so this was a contraceptive failure. The visit note from April 2 reveals that Dr. Patel already acted — counseled Chloe to stop isotretinoin immediately and referred her to high-risk OB. Your question was: how much context does the AI need to safely flag this situation?</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are the three levels. LIMITED gives the AI almost nothing — age, gender, zip code. It can't identify any medication risk because it can't see the medication list. STANDARD gives it demographics, conditions, labs, and meds. So it can see the isotretinoin, it can see the positive hCG — that's enough to flag the teratogen risk. FULL adds the visit history and notes, so the AI also knows that the provider already acted on April 2. Each level reveals more, but also exposes more of the patient's private information to the AI system.</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Most of you chose STANDARD, and that's a defensible answer. STANDARD gives the AI enough to see the isotretinoin and the positive pregnancy test — that's sufficient to flag the teratogen risk. But some of you chose FULL, and your reasoning was interesting. You argued that without the visit notes, the AI doesn't know the provider already acted. It might generate an urgent alert that's redundant. The strongest submissions — NYR2, Natalie, Penelope — didn't just pick a level. They explained what each level adds, what it costs in privacy exposure, and why their choice was the right balance.</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different perspectives here. NYR2 gave a clean cost-benefit framing — clinical usefulness versus privacy risk. That's the HIPAA minimum necessary principle in action. Matias made an interesting argument that even STANDARD wasn't enough for a truly grounded response — though I'd push back on that a bit, since STANDARD does include the medication list and pregnancy test. And James argued for FULL because he wanted the AI to know about the intervention that already happened. All three are reasonable — the point is that you reasoned through the tradeoff.</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the takeaway. Minimum necessary isn't a fixed rule — it's a judgment call that depends on the clinical scenario. More data gives the AI more to work with, but it also exposes more of the patient's private information to the system. The best answers in this section didn't just pick LIMITED, STANDARD, or FULL. They explained what each level reveals, what it hides, and why the balance they chose was appropriate for this specific patient. That's the skill I want you to carry forward.</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of you attempted the Health Bench — that's the advanced task where you evaluated the AI's clinical reasoning against a structured rubric. Brenda scored a perfect 100. James and Matias both hit 90. And Brenda also did the extra credit, running a population-level analysis on the Bronx patient panel. Her key findings: 34 out of 50 patients had flu shots on record, and 12 out of 50 had an A1c of 8 or higher — which tells you something about the diabetes burden in that simulated population. These advanced tasks showed real depth of engagement with the system.</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me give you the honest assessment. On the strengths side, most of you were good at identifying medication risks and citing evidence from the chart. The RAG comparison observations were thoughtful. On the growth side, some of you accepted RAG ON's output without questioning whether the retrieval might be incomplete — that's the false confidence trap. And on the privacy question, a few submissions gave general essays about HIPAA rather than case-specific reasoning about Chloe. The best submissions were specific, evidence-grounded, and self-critical.</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Five things. Write these down. One: read the visit notes. The Labs tab doesn't have everything. Two: RAG is powerful but not perfect — don't let confident language replace your own verification. Three: minimum necessary is a two-way justification — you need to explain both what you share and what you don't. Four: be specific. 'The patient has elevated potassium' is not the same as 'K+ was 5.8 mEq/L on March 12 per outside labs.' Five: AI governance isn't just about whether the AI is accurate. It's about when to trust it, when to double-check it, and when to limit what it sees.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open it up. Three questions for you. First, if you could change one thing about the ChatEHR interface — maybe how it displays information, how the AI presents its answers, how the context levels work — what would you change to make it safer? Second, when should you override the AI even when it's citing real chart data? This gets at the false confidence issue. And third, imagine you're talking to a hospital administrator who says, 'Just give the AI full access to everything — it'll be more accurate.' How do you push back on that using what you learned from the Chloe case?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Great work this week. The fact that most of you scored in the high 80s to 100 tells me you're getting it. But more importantly, the quality of your reasoning — the way you caught the triple whammy, questioned RAG's confidence, and thought through the privacy tradeoffs — that's what matters. See you next week.</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Blank">
  <p:cSld name="1_Title Slide - Blank">
    <p:bg>
      <p:bgPr>
        <a:solidFill>
          <a:schemeClr val="lt1"/>
        </a:solidFill>
      </p:bgPr>
    </p:bg>
    <p:spTree>
      <p:nvGrpSpPr>
        <p:cNvPr id="10" name="Shape 10"/>
        <p:cNvGrpSpPr/>
        <p:nvPr/>
      </p:nvGrpSpPr>
      <p:grpSpPr>
        <a:xfrm>
          <a:off x="0" y="0"/>
          <a:ext cx="0" cy="0"/>
          <a:chOff x="0" y="0"/>
          <a:chExt cx="0" cy="0"/>
        </a:xfrm>
      </p:grpSpPr>
      <p:pic>
        <p:nvPicPr>
          <p:cNvPr descr="A close up of a logo&#10;&#10;AI-generated content may be incorrect." id="11" name="Google Shape;11;p69"/>
          <p:cNvPicPr preferRelativeResize="0"/>
          <p:nvPr/>
        </p:nvPicPr>
        <p:blipFill rotWithShape="1">
          <a:blip r:embed="rId2">
            <a:alphaModFix/>
          </a:blip>
          <a:srcRect b="0" l="0" r="0" t="0"/>
          <a:stretch/>
        </p:blipFill>
        <p:spPr>
          <a:xfrm>
            <a:off x="13049250" y="8493158"/>
            <a:ext cx="4521200" cy="1206500"/>
          </a:xfrm>
          <a:prstGeom prst="rect">
            <a:avLst/>
          </a:prstGeom>
          <a:noFill/>
          <a:ln>
            <a:noFill/>
          </a:ln>
        </p:spPr>
      </p:pic>
      <p:pic>
        <p:nvPicPr>
          <p:cNvPr descr="A red letter f on a black background&#10;&#10;AI-generated content may be incorrect." id="12" name="Google Shape;12;p69"/>
          <p:cNvPicPr preferRelativeResize="0"/>
          <p:nvPr/>
        </p:nvPicPr>
        <p:blipFill rotWithShape="1">
          <a:blip r:embed="rId3">
            <a:alphaModFix/>
          </a:blip>
          <a:srcRect b="0" l="18529" r="0" t="8468"/>
          <a:stretch/>
        </p:blipFill>
        <p:spPr>
          <a:xfrm>
            <a:off x="0" y="0"/>
            <a:ext cx="7567490" cy="8648699"/>
          </a:xfrm>
          <a:prstGeom prst="rect">
            <a:avLst/>
          </a:prstGeom>
          <a:noFill/>
          <a:ln>
            <a:noFill/>
          </a:ln>
        </p:spPr>
      </p:pic>
      <p:sp>
        <p:nvSpPr>
          <p:cNvPr id="13" name="Google Shape;13;p69"/>
          <p:cNvSpPr txBox="1"/>
          <p:nvPr>
            <p:ph type="title"/>
          </p:nvPr>
        </p:nvSpPr>
        <p:spPr>
          <a:xfrm>
            <a:off x="5334000" y="5143500"/>
            <a:ext cx="15773400" cy="2901949"/>
          </a:xfrm>
          <a:prstGeom prst="rect">
            <a:avLst/>
          </a:prstGeom>
          <a:noFill/>
          <a:ln>
            <a:noFill/>
          </a:ln>
        </p:spPr>
        <p:txBody>
          <a:bodyPr anchorCtr="0" anchor="t" bIns="45700" lIns="91425" spcFirstLastPara="1" rIns="91425" wrap="square" tIns="45700">
            <a:noAutofit/>
          </a:bodyPr>
          <a:lstStyle>
            <a:lvl1pPr lvl="0" marR="0" rtl="0" algn="l">
              <a:lnSpc>
                <a:spcPct val="70000"/>
              </a:lnSpc>
              <a:spcBef>
                <a:spcPts val="0"/>
              </a:spcBef>
              <a:spcAft>
                <a:spcPts val="0"/>
              </a:spcAft>
              <a:buClr>
                <a:srgbClr val="7F0B2A"/>
              </a:buClr>
              <a:buSzPts val="13000"/>
              <a:buFont typeface="Montserrat Black"/>
              <a:buNone/>
              <a:defRPr b="1" i="0" sz="13000" u="none" cap="none" strike="noStrike">
                <a:solidFill>
                  <a:srgbClr val="7F0B2A"/>
                </a:solidFill>
                <a:latin typeface="Montserrat Black"/>
                <a:ea typeface="Montserrat Black"/>
                <a:cs typeface="Montserrat Black"/>
                <a:sym typeface="Montserrat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69"/>
          <p:cNvSpPr txBox="1"/>
          <p:nvPr>
            <p:ph idx="1" type="body"/>
          </p:nvPr>
        </p:nvSpPr>
        <p:spPr>
          <a:xfrm>
            <a:off x="457200" y="9039968"/>
            <a:ext cx="3505200" cy="49681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1pPr>
            <a:lvl2pPr indent="-228600" lvl="1" marL="9144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p:tgtEl>
                                          <p:spTgt spid="1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eft">
  <p:cSld name="Text Left">
    <p:bg>
      <p:bgPr>
        <a:solidFill>
          <a:schemeClr val="lt1"/>
        </a:solidFill>
      </p:bgPr>
    </p:bg>
    <p:spTree>
      <p:nvGrpSpPr>
        <p:cNvPr id="15" name="Shape 15"/>
        <p:cNvGrpSpPr/>
        <p:nvPr/>
      </p:nvGrpSpPr>
      <p:grpSpPr>
        <a:xfrm>
          <a:off x="0" y="0"/>
          <a:ext cx="0" cy="0"/>
          <a:chOff x="0" y="0"/>
          <a:chExt cx="0" cy="0"/>
        </a:xfrm>
      </p:grpSpPr>
      <p:sp>
        <p:nvSpPr>
          <p:cNvPr id="16" name="Google Shape;16;p70"/>
          <p:cNvSpPr txBox="1"/>
          <p:nvPr>
            <p:ph idx="1" type="body"/>
          </p:nvPr>
        </p:nvSpPr>
        <p:spPr>
          <a:xfrm>
            <a:off x="685800" y="4381500"/>
            <a:ext cx="4876800" cy="762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560"/>
              </a:spcBef>
              <a:spcAft>
                <a:spcPts val="0"/>
              </a:spcAft>
              <a:buClr>
                <a:srgbClr val="7F0B2A"/>
              </a:buClr>
              <a:buSzPts val="2800"/>
              <a:buFont typeface="Arial"/>
              <a:buNone/>
              <a:defRPr b="0" i="0" sz="2800" u="none" cap="none" strike="noStrike">
                <a:solidFill>
                  <a:srgbClr val="7F0B2A"/>
                </a:solidFill>
                <a:latin typeface="Arial"/>
                <a:ea typeface="Arial"/>
                <a:cs typeface="Arial"/>
                <a:sym typeface="Arial"/>
              </a:defRPr>
            </a:lvl1pPr>
            <a:lvl2pPr indent="-228600" lvl="1" marL="9144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 name="Google Shape;17;p70"/>
          <p:cNvSpPr txBox="1"/>
          <p:nvPr>
            <p:ph type="title"/>
          </p:nvPr>
        </p:nvSpPr>
        <p:spPr>
          <a:xfrm>
            <a:off x="685800" y="1040218"/>
            <a:ext cx="15773400" cy="1989137"/>
          </a:xfrm>
          <a:prstGeom prst="rect">
            <a:avLst/>
          </a:prstGeom>
          <a:noFill/>
          <a:ln>
            <a:noFill/>
          </a:ln>
        </p:spPr>
        <p:txBody>
          <a:bodyPr anchorCtr="0" anchor="t" bIns="45700" lIns="91425" spcFirstLastPara="1" rIns="91425" wrap="square" tIns="45700">
            <a:noAutofit/>
          </a:bodyPr>
          <a:lstStyle>
            <a:lvl1pPr lvl="0" marR="0" rtl="0" algn="l">
              <a:lnSpc>
                <a:spcPct val="70000"/>
              </a:lnSpc>
              <a:spcBef>
                <a:spcPts val="0"/>
              </a:spcBef>
              <a:spcAft>
                <a:spcPts val="0"/>
              </a:spcAft>
              <a:buClr>
                <a:srgbClr val="7F0B2A"/>
              </a:buClr>
              <a:buSzPts val="10900"/>
              <a:buFont typeface="Montserrat Black"/>
              <a:buNone/>
              <a:defRPr b="1" i="0" sz="10900" u="none" cap="none" strike="noStrike">
                <a:solidFill>
                  <a:srgbClr val="7F0B2A"/>
                </a:solidFill>
                <a:latin typeface="Montserrat Black"/>
                <a:ea typeface="Montserrat Black"/>
                <a:cs typeface="Montserrat Black"/>
                <a:sym typeface="Montserrat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70"/>
          <p:cNvSpPr txBox="1"/>
          <p:nvPr>
            <p:ph idx="2" type="body"/>
          </p:nvPr>
        </p:nvSpPr>
        <p:spPr>
          <a:xfrm>
            <a:off x="685800" y="5295900"/>
            <a:ext cx="4876800" cy="378596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1pPr>
            <a:lvl2pPr indent="-228600" lvl="1" marL="9144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2pPr>
            <a:lvl3pPr indent="-228600" lvl="2" marL="13716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3pPr>
            <a:lvl4pPr indent="-228600" lvl="3" marL="18288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4pPr>
            <a:lvl5pPr indent="-228600" lvl="4" marL="22860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70"/>
          <p:cNvSpPr txBox="1"/>
          <p:nvPr/>
        </p:nvSpPr>
        <p:spPr>
          <a:xfrm>
            <a:off x="838200" y="9081865"/>
            <a:ext cx="2387654" cy="633635"/>
          </a:xfrm>
          <a:prstGeom prst="rect">
            <a:avLst/>
          </a:prstGeom>
          <a:noFill/>
          <a:ln>
            <a:noFill/>
          </a:ln>
        </p:spPr>
        <p:txBody>
          <a:bodyPr anchorCtr="0" anchor="t" bIns="0" lIns="0" spcFirstLastPara="1" rIns="0" wrap="square" tIns="0">
            <a:spAutoFit/>
          </a:bodyPr>
          <a:lstStyle/>
          <a:p>
            <a:pPr indent="0" lvl="0" marL="0" marR="0" rtl="0" algn="l">
              <a:lnSpc>
                <a:spcPct val="172750"/>
              </a:lnSpc>
              <a:spcBef>
                <a:spcPts val="0"/>
              </a:spcBef>
              <a:spcAft>
                <a:spcPts val="0"/>
              </a:spcAft>
              <a:buClr>
                <a:srgbClr val="000000"/>
              </a:buClr>
              <a:buSzPts val="3200"/>
              <a:buFont typeface="Arial"/>
              <a:buNone/>
            </a:pPr>
            <a:fld id="{00000000-1234-1234-1234-123412341234}" type="slidenum">
              <a:rPr b="0" i="0" lang="en-US" sz="3200" u="none" cap="none" strike="noStrike">
                <a:solidFill>
                  <a:srgbClr val="7F0B2A"/>
                </a:solidFill>
                <a:latin typeface="Arial"/>
                <a:ea typeface="Arial"/>
                <a:cs typeface="Arial"/>
                <a:sym typeface="Arial"/>
              </a:rPr>
              <a:t>‹#›</a:t>
            </a:fld>
            <a:endParaRPr b="0" i="0" sz="3200" u="none" cap="none" strike="noStrike">
              <a:solidFill>
                <a:srgbClr val="7F0B2A"/>
              </a:solidFill>
              <a:latin typeface="Arial"/>
              <a:ea typeface="Arial"/>
              <a:cs typeface="Arial"/>
              <a:sym typeface="Arial"/>
            </a:endParaRPr>
          </a:p>
        </p:txBody>
      </p:sp>
      <p:pic>
        <p:nvPicPr>
          <p:cNvPr descr="A close up of a logo&#10;&#10;AI-generated content may be incorrect." id="20" name="Google Shape;20;p70"/>
          <p:cNvPicPr preferRelativeResize="0"/>
          <p:nvPr/>
        </p:nvPicPr>
        <p:blipFill rotWithShape="1">
          <a:blip r:embed="rId2">
            <a:alphaModFix/>
          </a:blip>
          <a:srcRect b="0" l="0" r="0" t="0"/>
          <a:stretch/>
        </p:blipFill>
        <p:spPr>
          <a:xfrm>
            <a:off x="15163746" y="9045632"/>
            <a:ext cx="2387654" cy="6371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type="blank">
  <p:cSld name="BLANK">
    <p:bg>
      <p:bgPr>
        <a:solidFill>
          <a:schemeClr val="lt1"/>
        </a:solidFill>
      </p:bgPr>
    </p:bg>
    <p:spTree>
      <p:nvGrpSpPr>
        <p:cNvPr id="21" name="Shape 21"/>
        <p:cNvGrpSpPr/>
        <p:nvPr/>
      </p:nvGrpSpPr>
      <p:grpSpPr>
        <a:xfrm>
          <a:off x="0" y="0"/>
          <a:ext cx="0" cy="0"/>
          <a:chOff x="0" y="0"/>
          <a:chExt cx="0" cy="0"/>
        </a:xfrm>
      </p:grpSpPr>
      <p:sp>
        <p:nvSpPr>
          <p:cNvPr id="22" name="Google Shape;22;p71"/>
          <p:cNvSpPr txBox="1"/>
          <p:nvPr/>
        </p:nvSpPr>
        <p:spPr>
          <a:xfrm>
            <a:off x="838200" y="9081865"/>
            <a:ext cx="2387654" cy="633635"/>
          </a:xfrm>
          <a:prstGeom prst="rect">
            <a:avLst/>
          </a:prstGeom>
          <a:noFill/>
          <a:ln>
            <a:noFill/>
          </a:ln>
        </p:spPr>
        <p:txBody>
          <a:bodyPr anchorCtr="0" anchor="t" bIns="0" lIns="0" spcFirstLastPara="1" rIns="0" wrap="square" tIns="0">
            <a:spAutoFit/>
          </a:bodyPr>
          <a:lstStyle/>
          <a:p>
            <a:pPr indent="0" lvl="0" marL="0" marR="0" rtl="0" algn="l">
              <a:lnSpc>
                <a:spcPct val="172750"/>
              </a:lnSpc>
              <a:spcBef>
                <a:spcPts val="0"/>
              </a:spcBef>
              <a:spcAft>
                <a:spcPts val="0"/>
              </a:spcAft>
              <a:buClr>
                <a:srgbClr val="000000"/>
              </a:buClr>
              <a:buSzPts val="3200"/>
              <a:buFont typeface="Arial"/>
              <a:buNone/>
            </a:pPr>
            <a:fld id="{00000000-1234-1234-1234-123412341234}" type="slidenum">
              <a:rPr b="0" i="0" lang="en-US" sz="3200" u="none" cap="none" strike="noStrike">
                <a:solidFill>
                  <a:srgbClr val="7F0B2A"/>
                </a:solidFill>
                <a:latin typeface="Arial"/>
                <a:ea typeface="Arial"/>
                <a:cs typeface="Arial"/>
                <a:sym typeface="Arial"/>
              </a:rPr>
              <a:t>‹#›</a:t>
            </a:fld>
            <a:endParaRPr b="0" i="0" sz="3200" u="none" cap="none" strike="noStrike">
              <a:solidFill>
                <a:srgbClr val="7F0B2A"/>
              </a:solidFill>
              <a:latin typeface="Arial"/>
              <a:ea typeface="Arial"/>
              <a:cs typeface="Arial"/>
              <a:sym typeface="Arial"/>
            </a:endParaRPr>
          </a:p>
        </p:txBody>
      </p:sp>
      <p:pic>
        <p:nvPicPr>
          <p:cNvPr descr="A close up of a logo&#10;&#10;AI-generated content may be incorrect." id="23" name="Google Shape;23;p71"/>
          <p:cNvPicPr preferRelativeResize="0"/>
          <p:nvPr/>
        </p:nvPicPr>
        <p:blipFill rotWithShape="1">
          <a:blip r:embed="rId2">
            <a:alphaModFix/>
          </a:blip>
          <a:srcRect b="0" l="0" r="0" t="0"/>
          <a:stretch/>
        </p:blipFill>
        <p:spPr>
          <a:xfrm>
            <a:off x="15163746" y="9045632"/>
            <a:ext cx="2387654" cy="6371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type="blank">
  <p:cSld name="BLANK">
    <p:bg>
      <p:bgPr>
        <a:solidFill>
          <a:schemeClr val="lt1"/>
        </a:solidFill>
      </p:bgPr>
    </p:bg>
    <p:spTree>
      <p:nvGrpSpPr>
        <p:cNvPr id="25" name="Shape 25"/>
        <p:cNvGrpSpPr/>
        <p:nvPr/>
      </p:nvGrpSpPr>
      <p:grpSpPr>
        <a:xfrm>
          <a:off x="0" y="0"/>
          <a:ext cx="0" cy="0"/>
          <a:chOff x="0" y="0"/>
          <a:chExt cx="0" cy="0"/>
        </a:xfrm>
      </p:grpSpPr>
      <p:sp>
        <p:nvSpPr>
          <p:cNvPr id="26" name="Google Shape;26;p55"/>
          <p:cNvSpPr txBox="1"/>
          <p:nvPr/>
        </p:nvSpPr>
        <p:spPr>
          <a:xfrm>
            <a:off x="838200" y="9081865"/>
            <a:ext cx="2387654" cy="633635"/>
          </a:xfrm>
          <a:prstGeom prst="rect">
            <a:avLst/>
          </a:prstGeom>
          <a:noFill/>
          <a:ln>
            <a:noFill/>
          </a:ln>
        </p:spPr>
        <p:txBody>
          <a:bodyPr anchorCtr="0" anchor="t" bIns="0" lIns="0" spcFirstLastPara="1" rIns="0" wrap="square" tIns="0">
            <a:spAutoFit/>
          </a:bodyPr>
          <a:lstStyle/>
          <a:p>
            <a:pPr indent="0" lvl="0" marL="0" marR="0" rtl="0" algn="l">
              <a:lnSpc>
                <a:spcPct val="172750"/>
              </a:lnSpc>
              <a:spcBef>
                <a:spcPts val="0"/>
              </a:spcBef>
              <a:spcAft>
                <a:spcPts val="0"/>
              </a:spcAft>
              <a:buClr>
                <a:srgbClr val="000000"/>
              </a:buClr>
              <a:buSzPts val="3200"/>
              <a:buFont typeface="Arial"/>
              <a:buNone/>
            </a:pPr>
            <a:fld id="{00000000-1234-1234-1234-123412341234}" type="slidenum">
              <a:rPr b="0" i="0" lang="en-US" sz="3200" u="none" cap="none" strike="noStrike">
                <a:solidFill>
                  <a:srgbClr val="7F0B2A"/>
                </a:solidFill>
                <a:latin typeface="Arial"/>
                <a:ea typeface="Arial"/>
                <a:cs typeface="Arial"/>
                <a:sym typeface="Arial"/>
              </a:rPr>
              <a:t>‹#›</a:t>
            </a:fld>
            <a:endParaRPr b="0" i="0" sz="3200" u="none" cap="none" strike="noStrike">
              <a:solidFill>
                <a:srgbClr val="7F0B2A"/>
              </a:solidFill>
              <a:latin typeface="Arial"/>
              <a:ea typeface="Arial"/>
              <a:cs typeface="Arial"/>
              <a:sym typeface="Arial"/>
            </a:endParaRPr>
          </a:p>
        </p:txBody>
      </p:sp>
      <p:pic>
        <p:nvPicPr>
          <p:cNvPr descr="A close up of a logo&#10;&#10;AI-generated content may be incorrect." id="27" name="Google Shape;27;p55"/>
          <p:cNvPicPr preferRelativeResize="0"/>
          <p:nvPr/>
        </p:nvPicPr>
        <p:blipFill rotWithShape="1">
          <a:blip r:embed="rId2">
            <a:alphaModFix/>
          </a:blip>
          <a:srcRect b="0" l="0" r="0" t="0"/>
          <a:stretch/>
        </p:blipFill>
        <p:spPr>
          <a:xfrm>
            <a:off x="15163746" y="9045632"/>
            <a:ext cx="2387654" cy="6371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Blank">
  <p:cSld name="1_Title Slide - Blank">
    <p:bg>
      <p:bgPr>
        <a:solidFill>
          <a:schemeClr val="lt1"/>
        </a:solidFill>
      </p:bgPr>
    </p:bg>
    <p:spTree>
      <p:nvGrpSpPr>
        <p:cNvPr id="28" name="Shape 28"/>
        <p:cNvGrpSpPr/>
        <p:nvPr/>
      </p:nvGrpSpPr>
      <p:grpSpPr>
        <a:xfrm>
          <a:off x="0" y="0"/>
          <a:ext cx="0" cy="0"/>
          <a:chOff x="0" y="0"/>
          <a:chExt cx="0" cy="0"/>
        </a:xfrm>
      </p:grpSpPr>
      <p:pic>
        <p:nvPicPr>
          <p:cNvPr descr="A close up of a logo&#10;&#10;AI-generated content may be incorrect." id="29" name="Google Shape;29;p58"/>
          <p:cNvPicPr preferRelativeResize="0"/>
          <p:nvPr/>
        </p:nvPicPr>
        <p:blipFill rotWithShape="1">
          <a:blip r:embed="rId2">
            <a:alphaModFix/>
          </a:blip>
          <a:srcRect b="0" l="0" r="0" t="0"/>
          <a:stretch/>
        </p:blipFill>
        <p:spPr>
          <a:xfrm>
            <a:off x="13049250" y="8493158"/>
            <a:ext cx="4521200" cy="1206500"/>
          </a:xfrm>
          <a:prstGeom prst="rect">
            <a:avLst/>
          </a:prstGeom>
          <a:noFill/>
          <a:ln>
            <a:noFill/>
          </a:ln>
        </p:spPr>
      </p:pic>
      <p:pic>
        <p:nvPicPr>
          <p:cNvPr descr="A red letter f on a black background&#10;&#10;AI-generated content may be incorrect." id="30" name="Google Shape;30;p58"/>
          <p:cNvPicPr preferRelativeResize="0"/>
          <p:nvPr/>
        </p:nvPicPr>
        <p:blipFill rotWithShape="1">
          <a:blip r:embed="rId3">
            <a:alphaModFix/>
          </a:blip>
          <a:srcRect b="0" l="18529" r="0" t="8468"/>
          <a:stretch/>
        </p:blipFill>
        <p:spPr>
          <a:xfrm>
            <a:off x="0" y="0"/>
            <a:ext cx="7567490" cy="8648699"/>
          </a:xfrm>
          <a:prstGeom prst="rect">
            <a:avLst/>
          </a:prstGeom>
          <a:noFill/>
          <a:ln>
            <a:noFill/>
          </a:ln>
        </p:spPr>
      </p:pic>
      <p:sp>
        <p:nvSpPr>
          <p:cNvPr id="31" name="Google Shape;31;p58"/>
          <p:cNvSpPr txBox="1"/>
          <p:nvPr>
            <p:ph type="title"/>
          </p:nvPr>
        </p:nvSpPr>
        <p:spPr>
          <a:xfrm>
            <a:off x="5334000" y="5143500"/>
            <a:ext cx="15773400" cy="2901949"/>
          </a:xfrm>
          <a:prstGeom prst="rect">
            <a:avLst/>
          </a:prstGeom>
          <a:noFill/>
          <a:ln>
            <a:noFill/>
          </a:ln>
        </p:spPr>
        <p:txBody>
          <a:bodyPr anchorCtr="0" anchor="t" bIns="45700" lIns="91425" spcFirstLastPara="1" rIns="91425" wrap="square" tIns="45700">
            <a:noAutofit/>
          </a:bodyPr>
          <a:lstStyle>
            <a:lvl1pPr lvl="0" marR="0" rtl="0" algn="l">
              <a:lnSpc>
                <a:spcPct val="70000"/>
              </a:lnSpc>
              <a:spcBef>
                <a:spcPts val="0"/>
              </a:spcBef>
              <a:spcAft>
                <a:spcPts val="0"/>
              </a:spcAft>
              <a:buClr>
                <a:srgbClr val="7F0B2A"/>
              </a:buClr>
              <a:buSzPts val="13000"/>
              <a:buFont typeface="Montserrat Black"/>
              <a:buNone/>
              <a:defRPr b="1" i="0" sz="13000" u="none" cap="none" strike="noStrike">
                <a:solidFill>
                  <a:srgbClr val="7F0B2A"/>
                </a:solidFill>
                <a:latin typeface="Montserrat Black"/>
                <a:ea typeface="Montserrat Black"/>
                <a:cs typeface="Montserrat Black"/>
                <a:sym typeface="Montserrat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 name="Google Shape;32;p58"/>
          <p:cNvSpPr txBox="1"/>
          <p:nvPr>
            <p:ph idx="1" type="body"/>
          </p:nvPr>
        </p:nvSpPr>
        <p:spPr>
          <a:xfrm>
            <a:off x="457200" y="9039968"/>
            <a:ext cx="3505200" cy="49681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1pPr>
            <a:lvl2pPr indent="-228600" lvl="1" marL="9144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p:tgtEl>
                                          <p:spTgt spid="3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eft">
  <p:cSld name="Text Left">
    <p:bg>
      <p:bgPr>
        <a:solidFill>
          <a:schemeClr val="lt1"/>
        </a:solidFill>
      </p:bgPr>
    </p:bg>
    <p:spTree>
      <p:nvGrpSpPr>
        <p:cNvPr id="33" name="Shape 33"/>
        <p:cNvGrpSpPr/>
        <p:nvPr/>
      </p:nvGrpSpPr>
      <p:grpSpPr>
        <a:xfrm>
          <a:off x="0" y="0"/>
          <a:ext cx="0" cy="0"/>
          <a:chOff x="0" y="0"/>
          <a:chExt cx="0" cy="0"/>
        </a:xfrm>
      </p:grpSpPr>
      <p:sp>
        <p:nvSpPr>
          <p:cNvPr id="34" name="Google Shape;34;p59"/>
          <p:cNvSpPr txBox="1"/>
          <p:nvPr>
            <p:ph idx="1" type="body"/>
          </p:nvPr>
        </p:nvSpPr>
        <p:spPr>
          <a:xfrm>
            <a:off x="685800" y="4381500"/>
            <a:ext cx="4876800" cy="762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560"/>
              </a:spcBef>
              <a:spcAft>
                <a:spcPts val="0"/>
              </a:spcAft>
              <a:buClr>
                <a:srgbClr val="7F0B2A"/>
              </a:buClr>
              <a:buSzPts val="2800"/>
              <a:buFont typeface="Arial"/>
              <a:buNone/>
              <a:defRPr b="0" i="0" sz="2800" u="none" cap="none" strike="noStrike">
                <a:solidFill>
                  <a:srgbClr val="7F0B2A"/>
                </a:solidFill>
                <a:latin typeface="Arial"/>
                <a:ea typeface="Arial"/>
                <a:cs typeface="Arial"/>
                <a:sym typeface="Arial"/>
              </a:defRPr>
            </a:lvl1pPr>
            <a:lvl2pPr indent="-228600" lvl="1" marL="9144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5" name="Google Shape;35;p59"/>
          <p:cNvSpPr txBox="1"/>
          <p:nvPr>
            <p:ph type="title"/>
          </p:nvPr>
        </p:nvSpPr>
        <p:spPr>
          <a:xfrm>
            <a:off x="685800" y="1040218"/>
            <a:ext cx="15773400" cy="1989137"/>
          </a:xfrm>
          <a:prstGeom prst="rect">
            <a:avLst/>
          </a:prstGeom>
          <a:noFill/>
          <a:ln>
            <a:noFill/>
          </a:ln>
        </p:spPr>
        <p:txBody>
          <a:bodyPr anchorCtr="0" anchor="t" bIns="45700" lIns="91425" spcFirstLastPara="1" rIns="91425" wrap="square" tIns="45700">
            <a:noAutofit/>
          </a:bodyPr>
          <a:lstStyle>
            <a:lvl1pPr lvl="0" marR="0" rtl="0" algn="l">
              <a:lnSpc>
                <a:spcPct val="70000"/>
              </a:lnSpc>
              <a:spcBef>
                <a:spcPts val="0"/>
              </a:spcBef>
              <a:spcAft>
                <a:spcPts val="0"/>
              </a:spcAft>
              <a:buClr>
                <a:srgbClr val="7F0B2A"/>
              </a:buClr>
              <a:buSzPts val="10900"/>
              <a:buFont typeface="Montserrat Black"/>
              <a:buNone/>
              <a:defRPr b="1" i="0" sz="10900" u="none" cap="none" strike="noStrike">
                <a:solidFill>
                  <a:srgbClr val="7F0B2A"/>
                </a:solidFill>
                <a:latin typeface="Montserrat Black"/>
                <a:ea typeface="Montserrat Black"/>
                <a:cs typeface="Montserrat Black"/>
                <a:sym typeface="Montserrat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 name="Google Shape;36;p59"/>
          <p:cNvSpPr txBox="1"/>
          <p:nvPr>
            <p:ph idx="2" type="body"/>
          </p:nvPr>
        </p:nvSpPr>
        <p:spPr>
          <a:xfrm>
            <a:off x="685800" y="5295900"/>
            <a:ext cx="4876800" cy="378596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1pPr>
            <a:lvl2pPr indent="-228600" lvl="1" marL="9144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2pPr>
            <a:lvl3pPr indent="-228600" lvl="2" marL="13716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3pPr>
            <a:lvl4pPr indent="-228600" lvl="3" marL="18288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4pPr>
            <a:lvl5pPr indent="-228600" lvl="4" marL="2286000" marR="0" rtl="0" algn="l">
              <a:lnSpc>
                <a:spcPct val="100000"/>
              </a:lnSpc>
              <a:spcBef>
                <a:spcPts val="360"/>
              </a:spcBef>
              <a:spcAft>
                <a:spcPts val="0"/>
              </a:spcAft>
              <a:buClr>
                <a:srgbClr val="7F0B2A"/>
              </a:buClr>
              <a:buSzPts val="1800"/>
              <a:buFont typeface="Arial"/>
              <a:buNone/>
              <a:defRPr b="0" i="0" sz="1800" u="none" cap="none" strike="noStrike">
                <a:solidFill>
                  <a:srgbClr val="7F0B2A"/>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7" name="Google Shape;37;p59"/>
          <p:cNvSpPr txBox="1"/>
          <p:nvPr/>
        </p:nvSpPr>
        <p:spPr>
          <a:xfrm>
            <a:off x="838200" y="9081865"/>
            <a:ext cx="2387654" cy="633635"/>
          </a:xfrm>
          <a:prstGeom prst="rect">
            <a:avLst/>
          </a:prstGeom>
          <a:noFill/>
          <a:ln>
            <a:noFill/>
          </a:ln>
        </p:spPr>
        <p:txBody>
          <a:bodyPr anchorCtr="0" anchor="t" bIns="0" lIns="0" spcFirstLastPara="1" rIns="0" wrap="square" tIns="0">
            <a:spAutoFit/>
          </a:bodyPr>
          <a:lstStyle/>
          <a:p>
            <a:pPr indent="0" lvl="0" marL="0" marR="0" rtl="0" algn="l">
              <a:lnSpc>
                <a:spcPct val="172750"/>
              </a:lnSpc>
              <a:spcBef>
                <a:spcPts val="0"/>
              </a:spcBef>
              <a:spcAft>
                <a:spcPts val="0"/>
              </a:spcAft>
              <a:buClr>
                <a:srgbClr val="000000"/>
              </a:buClr>
              <a:buSzPts val="3200"/>
              <a:buFont typeface="Arial"/>
              <a:buNone/>
            </a:pPr>
            <a:fld id="{00000000-1234-1234-1234-123412341234}" type="slidenum">
              <a:rPr b="0" i="0" lang="en-US" sz="3200" u="none" cap="none" strike="noStrike">
                <a:solidFill>
                  <a:srgbClr val="7F0B2A"/>
                </a:solidFill>
                <a:latin typeface="Arial"/>
                <a:ea typeface="Arial"/>
                <a:cs typeface="Arial"/>
                <a:sym typeface="Arial"/>
              </a:rPr>
              <a:t>‹#›</a:t>
            </a:fld>
            <a:endParaRPr b="0" i="0" sz="3200" u="none" cap="none" strike="noStrike">
              <a:solidFill>
                <a:srgbClr val="7F0B2A"/>
              </a:solidFill>
              <a:latin typeface="Arial"/>
              <a:ea typeface="Arial"/>
              <a:cs typeface="Arial"/>
              <a:sym typeface="Arial"/>
            </a:endParaRPr>
          </a:p>
        </p:txBody>
      </p:sp>
      <p:pic>
        <p:nvPicPr>
          <p:cNvPr descr="A close up of a logo&#10;&#10;AI-generated content may be incorrect." id="38" name="Google Shape;38;p59"/>
          <p:cNvPicPr preferRelativeResize="0"/>
          <p:nvPr/>
        </p:nvPicPr>
        <p:blipFill rotWithShape="1">
          <a:blip r:embed="rId2">
            <a:alphaModFix/>
          </a:blip>
          <a:srcRect b="0" l="0" r="0" t="0"/>
          <a:stretch/>
        </p:blipFill>
        <p:spPr>
          <a:xfrm>
            <a:off x="15163746" y="9045632"/>
            <a:ext cx="2387654" cy="6371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 name="Shape 2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429000"/>
            <a:ext cx="16459200" cy="1371600"/>
          </a:xfrm>
          <a:prstGeom prst="rect">
            <a:avLst/>
          </a:prstGeom>
          <a:noFill/>
        </p:spPr>
        <p:txBody>
          <a:bodyPr wrap="none">
            <a:spAutoFit/>
          </a:bodyPr>
          <a:lstStyle/>
          <a:p>
            <a:pPr algn="ctr">
              <a:defRPr sz="5400" b="1" i="0">
                <a:solidFill>
                  <a:srgbClr val="8B1538"/>
                </a:solidFill>
                <a:latin typeface="Arial"/>
              </a:defRPr>
            </a:pPr>
            <a:r>
              <a:rPr sz="5400" b="1" i="0">
                <a:solidFill>
                  <a:srgbClr val="8B1538"/>
                </a:solidFill>
                <a:latin typeface="Arial"/>
              </a:rPr>
              <a:t>CHATEHR LAB REVIEW</a:t>
            </a:r>
          </a:p>
        </p:txBody>
      </p:sp>
      <p:sp>
        <p:nvSpPr>
          <p:cNvPr id="3" name="TextBox 2"/>
          <p:cNvSpPr txBox="1"/>
          <p:nvPr/>
        </p:nvSpPr>
        <p:spPr>
          <a:xfrm>
            <a:off x="914400" y="5212080"/>
            <a:ext cx="16459200" cy="2057400"/>
          </a:xfrm>
          <a:prstGeom prst="rect">
            <a:avLst/>
          </a:prstGeom>
          <a:noFill/>
        </p:spPr>
        <p:txBody>
          <a:bodyPr wrap="square">
            <a:spAutoFit/>
          </a:bodyPr>
          <a:lstStyle/>
          <a:p>
            <a:pPr algn="ctr">
              <a:defRPr sz="2400" b="0" i="0">
                <a:solidFill>
                  <a:srgbClr val="8B1538"/>
                </a:solidFill>
                <a:latin typeface="Arial"/>
              </a:defRPr>
            </a:pPr>
            <a:r>
              <a:rPr sz="2400" b="0" i="0">
                <a:solidFill>
                  <a:srgbClr val="8B1538"/>
                </a:solidFill>
                <a:latin typeface="Arial"/>
              </a:rPr>
              <a:t>What You Discovered</a:t>
            </a:r>
          </a:p>
          <a:p>
            <a:pPr algn="ctr">
              <a:defRPr sz="2400" b="0" i="0">
                <a:solidFill>
                  <a:srgbClr val="8B1538"/>
                </a:solidFill>
                <a:latin typeface="Arial"/>
              </a:defRPr>
            </a:pPr>
            <a:r>
              <a:rPr sz="2400" b="0" i="0">
                <a:solidFill>
                  <a:srgbClr val="8B1538"/>
                </a:solidFill>
                <a:latin typeface="Arial"/>
              </a:rPr>
              <a:t>HINF 6117 | Fordham University | Spring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OPENING</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What We Did</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600" b="1" i="0">
                <a:solidFill>
                  <a:srgbClr val="333333"/>
                </a:solidFill>
                <a:latin typeface="Arial"/>
              </a:defRPr>
            </a:pPr>
            <a:r>
              <a:rPr sz="2600" b="1" i="0">
                <a:solidFill>
                  <a:srgbClr val="333333"/>
                </a:solidFill>
                <a:latin typeface="Arial"/>
              </a:rPr>
              <a:t>Three Missions — 60 Minutes</a:t>
            </a:r>
          </a:p>
          <a:p>
            <a:pPr algn="l">
              <a:spcAft>
                <a:spcPts val="400"/>
              </a:spcAft>
              <a:defRPr sz="2400" b="0" i="0">
                <a:solidFill>
                  <a:srgbClr val="333333"/>
                </a:solidFill>
                <a:latin typeface="Arial"/>
              </a:defRPr>
            </a:pPr>
            <a:r>
              <a:rPr sz="2400" b="0" i="0">
                <a:solidFill>
                  <a:srgbClr val="333333"/>
                </a:solidFill>
                <a:latin typeface="Arial"/>
              </a:rPr>
              <a:t>• Mission A: Eleanor Vance (LAB-001) — Medication safety review</a:t>
            </a:r>
          </a:p>
          <a:p>
            <a:pPr algn="l">
              <a:spcAft>
                <a:spcPts val="400"/>
              </a:spcAft>
              <a:defRPr sz="2400" b="0" i="0">
                <a:solidFill>
                  <a:srgbClr val="333333"/>
                </a:solidFill>
                <a:latin typeface="Arial"/>
              </a:defRPr>
            </a:pPr>
            <a:r>
              <a:rPr sz="2400" b="0" i="0">
                <a:solidFill>
                  <a:srgbClr val="333333"/>
                </a:solidFill>
                <a:latin typeface="Arial"/>
              </a:rPr>
              <a:t>• Mission B: Marcus Thorne (LAB-002) — RAG ON vs RAG OFF comparison</a:t>
            </a:r>
          </a:p>
          <a:p>
            <a:pPr algn="l">
              <a:spcAft>
                <a:spcPts val="400"/>
              </a:spcAft>
              <a:defRPr sz="2400" b="0" i="0">
                <a:solidFill>
                  <a:srgbClr val="333333"/>
                </a:solidFill>
                <a:latin typeface="Arial"/>
              </a:defRPr>
            </a:pPr>
            <a:r>
              <a:rPr sz="2400" b="0" i="0">
                <a:solidFill>
                  <a:srgbClr val="333333"/>
                </a:solidFill>
                <a:latin typeface="Arial"/>
              </a:rPr>
              <a:t>• Mission C: Chloe Davis (LAB-003) — Minimum necessary context decision</a:t>
            </a:r>
          </a:p>
          <a:p>
            <a:pPr algn="l">
              <a:spcAft>
                <a:spcPts val="400"/>
              </a:spcAft>
              <a:defRPr sz="2600" b="1" i="0">
                <a:solidFill>
                  <a:srgbClr val="333333"/>
                </a:solidFill>
                <a:latin typeface="Arial"/>
              </a:defRPr>
            </a:pPr>
            <a:r>
              <a:rPr sz="2600" b="1" i="0">
                <a:solidFill>
                  <a:srgbClr val="333333"/>
                </a:solidFill>
                <a:latin typeface="Arial"/>
              </a:rPr>
              <a:t>Team Structure</a:t>
            </a:r>
          </a:p>
          <a:p>
            <a:pPr algn="l">
              <a:spcAft>
                <a:spcPts val="400"/>
              </a:spcAft>
              <a:defRPr sz="2400" b="0" i="0">
                <a:solidFill>
                  <a:srgbClr val="333333"/>
                </a:solidFill>
                <a:latin typeface="Arial"/>
              </a:defRPr>
            </a:pPr>
            <a:r>
              <a:rPr sz="2400" b="0" i="0">
                <a:solidFill>
                  <a:srgbClr val="333333"/>
                </a:solidFill>
                <a:latin typeface="Arial"/>
              </a:rPr>
              <a:t>• Navigator + Driver + Scribe — rotating roles across missions</a:t>
            </a:r>
          </a:p>
          <a:p>
            <a:pPr algn="l">
              <a:spcAft>
                <a:spcPts val="400"/>
              </a:spcAft>
              <a:defRPr sz="2400" b="0" i="0">
                <a:solidFill>
                  <a:srgbClr val="333333"/>
                </a:solidFill>
                <a:latin typeface="Arial"/>
              </a:defRPr>
            </a:pPr>
            <a:r>
              <a:rPr sz="2400" b="0" i="0">
                <a:solidFill>
                  <a:srgbClr val="333333"/>
                </a:solidFill>
                <a:latin typeface="Arial"/>
              </a:rPr>
              <a:t>• Each team submitted a reflection with three scored questions (Q1/Q2/Q3)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OPENING</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3600" b="1" i="0">
                <a:solidFill>
                  <a:srgbClr val="8B1538"/>
                </a:solidFill>
                <a:latin typeface="Arial"/>
              </a:defRPr>
            </a:pPr>
            <a:r>
              <a:rPr sz="3600" b="1" i="0">
                <a:solidFill>
                  <a:srgbClr val="8B1538"/>
                </a:solidFill>
                <a:latin typeface="Arial"/>
              </a:rPr>
              <a:t>Class Score Distribution</a:t>
            </a:r>
          </a:p>
        </p:txBody>
      </p:sp>
      <p:pic>
        <p:nvPicPr>
          <p:cNvPr id="4" name="Picture 3" descr="01_score_distribution.png"/>
          <p:cNvPicPr>
            <a:picLocks noChangeAspect="1"/>
          </p:cNvPicPr>
          <p:nvPr/>
        </p:nvPicPr>
        <p:blipFill>
          <a:blip r:embed="rId2"/>
          <a:stretch>
            <a:fillRect/>
          </a:stretch>
        </p:blipFill>
        <p:spPr>
          <a:xfrm>
            <a:off x="731520" y="1577340"/>
            <a:ext cx="16824960" cy="7886700"/>
          </a:xfrm>
          <a:prstGeom prst="rect">
            <a:avLst/>
          </a:prstGeom>
        </p:spPr>
      </p:pic>
      <p:sp>
        <p:nvSpPr>
          <p:cNvPr id="5" name="TextBox 4"/>
          <p:cNvSpPr txBox="1"/>
          <p:nvPr/>
        </p:nvSpPr>
        <p:spPr>
          <a:xfrm>
            <a:off x="914400" y="9326880"/>
            <a:ext cx="16459200" cy="411480"/>
          </a:xfrm>
          <a:prstGeom prst="rect">
            <a:avLst/>
          </a:prstGeom>
          <a:noFill/>
        </p:spPr>
        <p:txBody>
          <a:bodyPr wrap="none">
            <a:spAutoFit/>
          </a:bodyPr>
          <a:lstStyle/>
          <a:p>
            <a:pPr algn="ctr">
              <a:defRPr sz="1500" b="0" i="1">
                <a:solidFill>
                  <a:srgbClr val="333333"/>
                </a:solidFill>
                <a:latin typeface="Arial"/>
              </a:defRPr>
            </a:pPr>
            <a:r>
              <a:rPr sz="1500" b="0" i="1">
                <a:solidFill>
                  <a:srgbClr val="333333"/>
                </a:solidFill>
                <a:latin typeface="Arial"/>
              </a:rPr>
              <a:t>Best score per student across all submissions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OPENING</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Participation Summary</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600" b="0" i="0">
                <a:solidFill>
                  <a:srgbClr val="333333"/>
                </a:solidFill>
                <a:latin typeface="Arial"/>
              </a:defRPr>
            </a:pPr>
            <a:r>
              <a:rPr sz="2600" b="0" i="0">
                <a:solidFill>
                  <a:srgbClr val="333333"/>
                </a:solidFill>
                <a:latin typeface="Arial"/>
              </a:rPr>
              <a:t>• 10 unique students submitted reflections</a:t>
            </a:r>
          </a:p>
          <a:p>
            <a:pPr algn="l">
              <a:spcAft>
                <a:spcPts val="400"/>
              </a:spcAft>
              <a:defRPr sz="2600" b="0" i="0">
                <a:solidFill>
                  <a:srgbClr val="333333"/>
                </a:solidFill>
                <a:latin typeface="Arial"/>
              </a:defRPr>
            </a:pPr>
            <a:r>
              <a:rPr sz="2600" b="0" i="0">
                <a:solidFill>
                  <a:srgbClr val="333333"/>
                </a:solidFill>
                <a:latin typeface="Arial"/>
              </a:rPr>
              <a:t>• 23 total submissions (some students refined and resubmitted)</a:t>
            </a:r>
          </a:p>
          <a:p>
            <a:pPr algn="l">
              <a:spcAft>
                <a:spcPts val="400"/>
              </a:spcAft>
              <a:defRPr sz="2600" b="0" i="0">
                <a:solidFill>
                  <a:srgbClr val="333333"/>
                </a:solidFill>
                <a:latin typeface="Arial"/>
              </a:defRPr>
            </a:pPr>
            <a:r>
              <a:rPr sz="2600" b="0" i="0">
                <a:solidFill>
                  <a:srgbClr val="333333"/>
                </a:solidFill>
                <a:latin typeface="Arial"/>
              </a:rPr>
              <a:t>• 3 Health Bench advanced task submissions</a:t>
            </a:r>
          </a:p>
          <a:p>
            <a:pPr algn="l">
              <a:spcAft>
                <a:spcPts val="400"/>
              </a:spcAft>
              <a:defRPr sz="2600" b="0" i="0">
                <a:solidFill>
                  <a:srgbClr val="333333"/>
                </a:solidFill>
                <a:latin typeface="Arial"/>
              </a:defRPr>
            </a:pPr>
            <a:r>
              <a:rPr sz="2600" b="0" i="0">
                <a:solidFill>
                  <a:srgbClr val="333333"/>
                </a:solidFill>
                <a:latin typeface="Arial"/>
              </a:rPr>
              <a:t>• 1 Extra Credit submission (Brenda — Bronx population analysis)</a:t>
            </a:r>
          </a:p>
          <a:p>
            <a:pPr algn="l">
              <a:spcAft>
                <a:spcPts val="400"/>
              </a:spcAft>
              <a:defRPr sz="2600" b="0" i="0">
                <a:solidFill>
                  <a:srgbClr val="333333"/>
                </a:solidFill>
                <a:latin typeface="Arial"/>
              </a:defRPr>
            </a:pPr>
            <a:r>
              <a:rPr sz="2600" b="0" i="0">
                <a:solidFill>
                  <a:srgbClr val="333333"/>
                </a:solidFill>
                <a:latin typeface="Arial"/>
              </a:rPr>
              <a:t>• Average best score: ~91 across all students</a:t>
            </a:r>
          </a:p>
          <a:p>
            <a:pPr algn="l">
              <a:spcAft>
                <a:spcPts val="400"/>
              </a:spcAft>
              <a:defRPr sz="2600" b="0" i="0">
                <a:solidFill>
                  <a:srgbClr val="333333"/>
                </a:solidFill>
                <a:latin typeface="Arial"/>
              </a:defRPr>
            </a:pPr>
            <a:r>
              <a:rPr sz="2600" b="0" i="0">
                <a:solidFill>
                  <a:srgbClr val="333333"/>
                </a:solidFill>
                <a:latin typeface="Arial"/>
              </a:rPr>
              <a:t>• Most common strength: identifying medication risks with chart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8B1538"/>
        </a:solidFill>
        <a:effectLst/>
      </p:bgPr>
    </p:bg>
    <p:spTree>
      <p:nvGrpSpPr>
        <p:cNvPr id="1" name=""/>
        <p:cNvGrpSpPr/>
        <p:nvPr/>
      </p:nvGrpSpPr>
      <p:grpSpPr/>
      <p:sp>
        <p:nvSpPr>
          <p:cNvPr id="2" name="TextBox 1"/>
          <p:cNvSpPr txBox="1"/>
          <p:nvPr/>
        </p:nvSpPr>
        <p:spPr>
          <a:xfrm>
            <a:off x="914400" y="3840480"/>
            <a:ext cx="16459200" cy="1097280"/>
          </a:xfrm>
          <a:prstGeom prst="rect">
            <a:avLst/>
          </a:prstGeom>
          <a:noFill/>
        </p:spPr>
        <p:txBody>
          <a:bodyPr wrap="none">
            <a:spAutoFit/>
          </a:bodyPr>
          <a:lstStyle/>
          <a:p>
            <a:pPr algn="ctr">
              <a:defRPr sz="5400" b="1" i="0">
                <a:solidFill>
                  <a:srgbClr val="FFFFFF"/>
                </a:solidFill>
                <a:latin typeface="Arial"/>
              </a:defRPr>
            </a:pPr>
            <a:r>
              <a:rPr sz="5400" b="1" i="0">
                <a:solidFill>
                  <a:srgbClr val="FFFFFF"/>
                </a:solidFill>
                <a:latin typeface="Arial"/>
              </a:rPr>
              <a:t>Mission A: Eleanor Vance</a:t>
            </a:r>
          </a:p>
        </p:txBody>
      </p:sp>
      <p:sp>
        <p:nvSpPr>
          <p:cNvPr id="3" name="TextBox 2"/>
          <p:cNvSpPr txBox="1"/>
          <p:nvPr/>
        </p:nvSpPr>
        <p:spPr>
          <a:xfrm>
            <a:off x="914400" y="5212080"/>
            <a:ext cx="16459200" cy="822960"/>
          </a:xfrm>
          <a:prstGeom prst="rect">
            <a:avLst/>
          </a:prstGeom>
          <a:noFill/>
        </p:spPr>
        <p:txBody>
          <a:bodyPr wrap="none">
            <a:spAutoFit/>
          </a:bodyPr>
          <a:lstStyle/>
          <a:p>
            <a:pPr algn="ctr">
              <a:defRPr sz="2700" b="0" i="1">
                <a:solidFill>
                  <a:srgbClr val="FFFFFF"/>
                </a:solidFill>
                <a:latin typeface="Arial"/>
              </a:defRPr>
            </a:pPr>
            <a:r>
              <a:rPr sz="2700" b="0" i="1">
                <a:solidFill>
                  <a:srgbClr val="FFFFFF"/>
                </a:solidFill>
                <a:latin typeface="Arial"/>
              </a:rPr>
              <a:t>Medication Safety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Q1 — ELEANOR VANCE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3600" b="1" i="0">
                <a:solidFill>
                  <a:srgbClr val="8B1538"/>
                </a:solidFill>
                <a:latin typeface="Arial"/>
              </a:defRPr>
            </a:pPr>
            <a:r>
              <a:rPr sz="3600" b="1" i="0">
                <a:solidFill>
                  <a:srgbClr val="8B1538"/>
                </a:solidFill>
                <a:latin typeface="Arial"/>
              </a:rPr>
              <a:t>Eleanor Vance — The Case</a:t>
            </a:r>
          </a:p>
        </p:txBody>
      </p:sp>
      <p:pic>
        <p:nvPicPr>
          <p:cNvPr id="4" name="Picture 3" descr="04_eleanor_case.png"/>
          <p:cNvPicPr>
            <a:picLocks noChangeAspect="1"/>
          </p:cNvPicPr>
          <p:nvPr/>
        </p:nvPicPr>
        <p:blipFill>
          <a:blip r:embed="rId2"/>
          <a:stretch>
            <a:fillRect/>
          </a:stretch>
        </p:blipFill>
        <p:spPr>
          <a:xfrm>
            <a:off x="731520" y="1577340"/>
            <a:ext cx="16824960" cy="78867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Q1 — ELEANOR VANCE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The Unsafe Recommendation</a:t>
            </a:r>
          </a:p>
        </p:txBody>
      </p:sp>
      <p:sp>
        <p:nvSpPr>
          <p:cNvPr id="4" name="TextBox 3"/>
          <p:cNvSpPr txBox="1"/>
          <p:nvPr/>
        </p:nvSpPr>
        <p:spPr>
          <a:xfrm>
            <a:off x="914400" y="1783080"/>
            <a:ext cx="7680960" cy="548640"/>
          </a:xfrm>
          <a:prstGeom prst="rect">
            <a:avLst/>
          </a:prstGeom>
          <a:noFill/>
        </p:spPr>
        <p:txBody>
          <a:bodyPr wrap="none">
            <a:spAutoFit/>
          </a:bodyPr>
          <a:lstStyle/>
          <a:p>
            <a:pPr algn="l">
              <a:defRPr sz="2100" b="1" i="0">
                <a:solidFill>
                  <a:srgbClr val="8B1538"/>
                </a:solidFill>
                <a:latin typeface="Arial"/>
              </a:defRPr>
            </a:pPr>
            <a:r>
              <a:t>UNSAFE: NSAIDs</a:t>
            </a:r>
          </a:p>
        </p:txBody>
      </p:sp>
      <p:sp>
        <p:nvSpPr>
          <p:cNvPr id="5" name="TextBox 4"/>
          <p:cNvSpPr txBox="1"/>
          <p:nvPr/>
        </p:nvSpPr>
        <p:spPr>
          <a:xfrm>
            <a:off x="914400" y="2468880"/>
            <a:ext cx="7680960" cy="6172200"/>
          </a:xfrm>
          <a:prstGeom prst="rect">
            <a:avLst/>
          </a:prstGeom>
          <a:noFill/>
        </p:spPr>
        <p:txBody>
          <a:bodyPr wrap="square">
            <a:spAutoFit/>
          </a:bodyPr>
          <a:lstStyle/>
          <a:p>
            <a:pPr algn="l">
              <a:defRPr sz="3000" b="0" i="0">
                <a:solidFill>
                  <a:srgbClr val="333333"/>
                </a:solidFill>
                <a:latin typeface="Arial"/>
              </a:defRPr>
            </a:pPr>
            <a:r>
              <a:rPr sz="3000" b="0" i="0">
                <a:solidFill>
                  <a:srgbClr val="333333"/>
                </a:solidFill>
                <a:latin typeface="Arial"/>
              </a:rPr>
              <a:t>• Creates the 'Triple Whammy'</a:t>
            </a:r>
          </a:p>
          <a:p>
            <a:pPr algn="l">
              <a:defRPr sz="3000" b="0" i="0">
                <a:solidFill>
                  <a:srgbClr val="333333"/>
                </a:solidFill>
                <a:latin typeface="Arial"/>
              </a:defRPr>
            </a:pPr>
            <a:r>
              <a:rPr sz="3000" b="0" i="0">
                <a:solidFill>
                  <a:srgbClr val="333333"/>
                </a:solidFill>
                <a:latin typeface="Arial"/>
              </a:rPr>
              <a:t>• ACE inhibitor + Diuretic + NSAID</a:t>
            </a:r>
          </a:p>
          <a:p>
            <a:pPr algn="l">
              <a:defRPr sz="3000" b="0" i="0">
                <a:solidFill>
                  <a:srgbClr val="333333"/>
                </a:solidFill>
                <a:latin typeface="Arial"/>
              </a:defRPr>
            </a:pPr>
            <a:r>
              <a:rPr sz="3000" b="0" i="0">
                <a:solidFill>
                  <a:srgbClr val="333333"/>
                </a:solidFill>
                <a:latin typeface="Arial"/>
              </a:rPr>
              <a:t>• Reduces renal blood flow</a:t>
            </a:r>
          </a:p>
          <a:p>
            <a:pPr algn="l">
              <a:defRPr sz="3000" b="0" i="0">
                <a:solidFill>
                  <a:srgbClr val="333333"/>
                </a:solidFill>
                <a:latin typeface="Arial"/>
              </a:defRPr>
            </a:pPr>
            <a:r>
              <a:rPr sz="3000" b="0" i="0">
                <a:solidFill>
                  <a:srgbClr val="333333"/>
                </a:solidFill>
                <a:latin typeface="Arial"/>
              </a:rPr>
              <a:t>• Risk of acute kidney injury</a:t>
            </a:r>
          </a:p>
          <a:p>
            <a:pPr algn="l">
              <a:defRPr sz="3000" b="0" i="0">
                <a:solidFill>
                  <a:srgbClr val="333333"/>
                </a:solidFill>
                <a:latin typeface="Arial"/>
              </a:defRPr>
            </a:pPr>
            <a:r>
              <a:rPr sz="3000" b="0" i="0">
                <a:solidFill>
                  <a:srgbClr val="333333"/>
                </a:solidFill>
                <a:latin typeface="Arial"/>
              </a:rPr>
              <a:t>• Creatinine already elevated (1.4)</a:t>
            </a:r>
          </a:p>
        </p:txBody>
      </p:sp>
      <p:sp>
        <p:nvSpPr>
          <p:cNvPr id="6" name="TextBox 5"/>
          <p:cNvSpPr txBox="1"/>
          <p:nvPr/>
        </p:nvSpPr>
        <p:spPr>
          <a:xfrm>
            <a:off x="9144000" y="1783080"/>
            <a:ext cx="7680960" cy="548640"/>
          </a:xfrm>
          <a:prstGeom prst="rect">
            <a:avLst/>
          </a:prstGeom>
          <a:noFill/>
        </p:spPr>
        <p:txBody>
          <a:bodyPr wrap="none">
            <a:spAutoFit/>
          </a:bodyPr>
          <a:lstStyle/>
          <a:p>
            <a:pPr algn="l">
              <a:defRPr sz="2100" b="1" i="0">
                <a:solidFill>
                  <a:srgbClr val="8B1538"/>
                </a:solidFill>
                <a:latin typeface="Arial"/>
              </a:defRPr>
            </a:pPr>
            <a:r>
              <a:t>SAFER Alternatives</a:t>
            </a:r>
          </a:p>
        </p:txBody>
      </p:sp>
      <p:sp>
        <p:nvSpPr>
          <p:cNvPr id="7" name="TextBox 6"/>
          <p:cNvSpPr txBox="1"/>
          <p:nvPr/>
        </p:nvSpPr>
        <p:spPr>
          <a:xfrm>
            <a:off x="9144000" y="2468880"/>
            <a:ext cx="7680960" cy="6172200"/>
          </a:xfrm>
          <a:prstGeom prst="rect">
            <a:avLst/>
          </a:prstGeom>
          <a:noFill/>
        </p:spPr>
        <p:txBody>
          <a:bodyPr wrap="square">
            <a:spAutoFit/>
          </a:bodyPr>
          <a:lstStyle/>
          <a:p>
            <a:pPr algn="l">
              <a:defRPr sz="3000" b="0" i="0">
                <a:solidFill>
                  <a:srgbClr val="333333"/>
                </a:solidFill>
                <a:latin typeface="Arial"/>
              </a:defRPr>
            </a:pPr>
            <a:r>
              <a:rPr sz="3000" b="0" i="0">
                <a:solidFill>
                  <a:srgbClr val="333333"/>
                </a:solidFill>
                <a:latin typeface="Arial"/>
              </a:rPr>
              <a:t>• Acetaminophen (Tylenol) first-line</a:t>
            </a:r>
          </a:p>
          <a:p>
            <a:pPr algn="l">
              <a:defRPr sz="3000" b="0" i="0">
                <a:solidFill>
                  <a:srgbClr val="333333"/>
                </a:solidFill>
                <a:latin typeface="Arial"/>
              </a:defRPr>
            </a:pPr>
            <a:r>
              <a:rPr sz="3000" b="0" i="0">
                <a:solidFill>
                  <a:srgbClr val="333333"/>
                </a:solidFill>
                <a:latin typeface="Arial"/>
              </a:rPr>
              <a:t>• Topical analgesics (lidocaine patches)</a:t>
            </a:r>
          </a:p>
          <a:p>
            <a:pPr algn="l">
              <a:defRPr sz="3000" b="0" i="0">
                <a:solidFill>
                  <a:srgbClr val="333333"/>
                </a:solidFill>
                <a:latin typeface="Arial"/>
              </a:defRPr>
            </a:pPr>
            <a:r>
              <a:rPr sz="3000" b="0" i="0">
                <a:solidFill>
                  <a:srgbClr val="333333"/>
                </a:solidFill>
                <a:latin typeface="Arial"/>
              </a:rPr>
              <a:t>• Non-pharmacological approaches</a:t>
            </a:r>
          </a:p>
          <a:p>
            <a:pPr algn="l">
              <a:defRPr sz="3000" b="0" i="0">
                <a:solidFill>
                  <a:srgbClr val="333333"/>
                </a:solidFill>
                <a:latin typeface="Arial"/>
              </a:defRPr>
            </a:pPr>
            <a:r>
              <a:rPr sz="3000" b="0" i="0">
                <a:solidFill>
                  <a:srgbClr val="333333"/>
                </a:solidFill>
                <a:latin typeface="Arial"/>
              </a:rPr>
              <a:t>• If NSAID needed: lowest dose, shortest duration</a:t>
            </a:r>
          </a:p>
          <a:p>
            <a:pPr algn="l">
              <a:defRPr sz="3000" b="0" i="0">
                <a:solidFill>
                  <a:srgbClr val="333333"/>
                </a:solidFill>
                <a:latin typeface="Arial"/>
              </a:defRPr>
            </a:pPr>
            <a:r>
              <a:rPr sz="3000" b="0" i="0">
                <a:solidFill>
                  <a:srgbClr val="333333"/>
                </a:solidFill>
                <a:latin typeface="Arial"/>
              </a:rPr>
              <a:t>• Monitor renal function closely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Q1 — ELEANOR VANCE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Your Best Answers</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700" b="1" i="0">
                <a:solidFill>
                  <a:srgbClr val="333333"/>
                </a:solidFill>
                <a:latin typeface="Arial"/>
              </a:defRPr>
            </a:pPr>
            <a:r>
              <a:rPr sz="2700" b="1" i="0">
                <a:solidFill>
                  <a:srgbClr val="333333"/>
                </a:solidFill>
                <a:latin typeface="Arial"/>
              </a:rPr>
              <a:t>NYR2 / Group 3</a:t>
            </a:r>
          </a:p>
          <a:p>
            <a:pPr algn="l">
              <a:spcAft>
                <a:spcPts val="400"/>
              </a:spcAft>
              <a:defRPr sz="2600" b="0" i="0">
                <a:solidFill>
                  <a:srgbClr val="333333"/>
                </a:solidFill>
                <a:latin typeface="Arial"/>
              </a:defRPr>
            </a:pPr>
            <a:r>
              <a:rPr sz="2600" b="0" i="0">
                <a:solidFill>
                  <a:srgbClr val="333333"/>
                </a:solidFill>
                <a:latin typeface="Arial"/>
              </a:rPr>
              <a:t>• "Identified the triple whammy — ACE inhibitor + diuretic + NSAID — and cited BNP 350 as evidence of active heart failure"</a:t>
            </a:r>
          </a:p>
          <a:p>
            <a:pPr algn="l">
              <a:spcAft>
                <a:spcPts val="400"/>
              </a:spcAft>
              <a:defRPr sz="2700" b="1" i="0">
                <a:solidFill>
                  <a:srgbClr val="333333"/>
                </a:solidFill>
                <a:latin typeface="Arial"/>
              </a:defRPr>
            </a:pPr>
            <a:r>
              <a:rPr sz="2700" b="1" i="0">
                <a:solidFill>
                  <a:srgbClr val="333333"/>
                </a:solidFill>
                <a:latin typeface="Arial"/>
              </a:rPr>
              <a:t>Penelope &amp; Natalie</a:t>
            </a:r>
          </a:p>
          <a:p>
            <a:pPr algn="l">
              <a:spcAft>
                <a:spcPts val="400"/>
              </a:spcAft>
              <a:defRPr sz="2600" b="0" i="0">
                <a:solidFill>
                  <a:srgbClr val="333333"/>
                </a:solidFill>
                <a:latin typeface="Arial"/>
              </a:defRPr>
            </a:pPr>
            <a:r>
              <a:rPr sz="2600" b="0" i="0">
                <a:solidFill>
                  <a:srgbClr val="333333"/>
                </a:solidFill>
                <a:latin typeface="Arial"/>
              </a:rPr>
              <a:t>• "Flagged the Spironolactone restart risk — K+ was 5.8 with an ACE inhibitor already on board, making hyperkalemia dangerous"</a:t>
            </a:r>
          </a:p>
          <a:p>
            <a:pPr algn="l">
              <a:spcAft>
                <a:spcPts val="400"/>
              </a:spcAft>
              <a:defRPr sz="2700" b="1" i="0">
                <a:solidFill>
                  <a:srgbClr val="333333"/>
                </a:solidFill>
                <a:latin typeface="Arial"/>
              </a:defRPr>
            </a:pPr>
            <a:r>
              <a:rPr sz="2700" b="1" i="0">
                <a:solidFill>
                  <a:srgbClr val="333333"/>
                </a:solidFill>
                <a:latin typeface="Arial"/>
              </a:rPr>
              <a:t>Matias</a:t>
            </a:r>
          </a:p>
          <a:p>
            <a:pPr algn="l">
              <a:spcAft>
                <a:spcPts val="400"/>
              </a:spcAft>
              <a:defRPr sz="2600" b="0" i="0">
                <a:solidFill>
                  <a:srgbClr val="333333"/>
                </a:solidFill>
                <a:latin typeface="Arial"/>
              </a:defRPr>
            </a:pPr>
            <a:r>
              <a:rPr sz="2600" b="0" i="0">
                <a:solidFill>
                  <a:srgbClr val="333333"/>
                </a:solidFill>
                <a:latin typeface="Arial"/>
              </a:rPr>
              <a:t>• "Do not take potassium supplements — K+ already 5.8 mEq/L. Clear, specific, grounded in the chart"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Q1 — ELEANOR VANCE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The Hidden Lesson</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600" b="1" i="0">
                <a:solidFill>
                  <a:srgbClr val="333333"/>
                </a:solidFill>
                <a:latin typeface="Arial"/>
              </a:defRPr>
            </a:pPr>
            <a:r>
              <a:rPr sz="2600" b="1" i="0">
                <a:solidFill>
                  <a:srgbClr val="333333"/>
                </a:solidFill>
                <a:latin typeface="Arial"/>
              </a:rPr>
              <a:t>Two Different Potassium Values — Two Different Locations</a:t>
            </a:r>
          </a:p>
          <a:p>
            <a:pPr algn="l">
              <a:spcAft>
                <a:spcPts val="400"/>
              </a:spcAft>
              <a:defRPr sz="2400" b="0" i="0">
                <a:solidFill>
                  <a:srgbClr val="333333"/>
                </a:solidFill>
                <a:latin typeface="Arial"/>
              </a:defRPr>
            </a:pPr>
            <a:r>
              <a:rPr sz="2400" b="0" i="0">
                <a:solidFill>
                  <a:srgbClr val="333333"/>
                </a:solidFill>
                <a:latin typeface="Arial"/>
              </a:rPr>
              <a:t>• Labs tab (structured data, March 1): K+ = 4.2 mEq/L — Normal</a:t>
            </a:r>
          </a:p>
          <a:p>
            <a:pPr algn="l">
              <a:spcAft>
                <a:spcPts val="400"/>
              </a:spcAft>
              <a:defRPr sz="2400" b="0" i="0">
                <a:solidFill>
                  <a:srgbClr val="333333"/>
                </a:solidFill>
                <a:latin typeface="Arial"/>
              </a:defRPr>
            </a:pPr>
            <a:r>
              <a:rPr sz="2400" b="0" i="0">
                <a:solidFill>
                  <a:srgbClr val="333333"/>
                </a:solidFill>
                <a:latin typeface="Arial"/>
              </a:rPr>
              <a:t>• Visit notes (narrative text, March 15): K+ = 5.8 mEq/L — Dangerous</a:t>
            </a:r>
          </a:p>
          <a:p>
            <a:pPr algn="l">
              <a:spcAft>
                <a:spcPts val="400"/>
              </a:spcAft>
              <a:defRPr sz="2600" b="1" i="0">
                <a:solidFill>
                  <a:srgbClr val="333333"/>
                </a:solidFill>
                <a:latin typeface="Arial"/>
              </a:defRPr>
            </a:pPr>
            <a:r>
              <a:rPr sz="2600" b="1" i="0">
                <a:solidFill>
                  <a:srgbClr val="333333"/>
                </a:solidFill>
                <a:latin typeface="Arial"/>
              </a:rPr>
              <a:t>Why This Matters</a:t>
            </a:r>
          </a:p>
          <a:p>
            <a:pPr algn="l">
              <a:spcAft>
                <a:spcPts val="400"/>
              </a:spcAft>
              <a:defRPr sz="2400" b="0" i="0">
                <a:solidFill>
                  <a:srgbClr val="333333"/>
                </a:solidFill>
                <a:latin typeface="Arial"/>
              </a:defRPr>
            </a:pPr>
            <a:r>
              <a:rPr sz="2400" b="0" i="0">
                <a:solidFill>
                  <a:srgbClr val="333333"/>
                </a:solidFill>
                <a:latin typeface="Arial"/>
              </a:rPr>
              <a:t>• The structured labs look reassuring — potassium is normal</a:t>
            </a:r>
          </a:p>
          <a:p>
            <a:pPr algn="l">
              <a:spcAft>
                <a:spcPts val="400"/>
              </a:spcAft>
              <a:defRPr sz="2400" b="0" i="0">
                <a:solidFill>
                  <a:srgbClr val="333333"/>
                </a:solidFill>
                <a:latin typeface="Arial"/>
              </a:defRPr>
            </a:pPr>
            <a:r>
              <a:rPr sz="2400" b="0" i="0">
                <a:solidFill>
                  <a:srgbClr val="333333"/>
                </a:solidFill>
                <a:latin typeface="Arial"/>
              </a:rPr>
              <a:t>• But the visit note reveals outside labs from ~March 12 with K+ 5.8</a:t>
            </a:r>
          </a:p>
          <a:p>
            <a:pPr algn="l">
              <a:spcAft>
                <a:spcPts val="400"/>
              </a:spcAft>
              <a:defRPr sz="2400" b="0" i="0">
                <a:solidFill>
                  <a:srgbClr val="333333"/>
                </a:solidFill>
                <a:latin typeface="Arial"/>
              </a:defRPr>
            </a:pPr>
            <a:r>
              <a:rPr sz="2400" b="0" i="0">
                <a:solidFill>
                  <a:srgbClr val="333333"/>
                </a:solidFill>
                <a:latin typeface="Arial"/>
              </a:rPr>
              <a:t>• The plan and notes sections of the visit contain the real clinical story</a:t>
            </a:r>
          </a:p>
          <a:p>
            <a:pPr algn="l">
              <a:spcAft>
                <a:spcPts val="400"/>
              </a:spcAft>
              <a:defRPr sz="2400" b="0" i="0">
                <a:solidFill>
                  <a:srgbClr val="333333"/>
                </a:solidFill>
                <a:latin typeface="Arial"/>
              </a:defRPr>
            </a:pPr>
            <a:r>
              <a:rPr sz="2400" b="0" i="0">
                <a:solidFill>
                  <a:srgbClr val="333333"/>
                </a:solidFill>
                <a:latin typeface="Arial"/>
              </a:rPr>
              <a:t>• If you only checked the Labs tab, you'd miss the most important finding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Q1 — ELEANOR VANCE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Q1 Takeaway</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700" b="0" i="0">
                <a:solidFill>
                  <a:srgbClr val="333333"/>
                </a:solidFill>
                <a:latin typeface="Arial"/>
              </a:defRPr>
            </a:pPr>
            <a:r>
              <a:rPr sz="2700" b="0" i="0">
                <a:solidFill>
                  <a:srgbClr val="333333"/>
                </a:solidFill>
                <a:latin typeface="Arial"/>
              </a:rPr>
              <a:t>• Always cite specific chart evidence — don't just say 'there's a risk'</a:t>
            </a:r>
          </a:p>
          <a:p>
            <a:pPr algn="l">
              <a:spcAft>
                <a:spcPts val="400"/>
              </a:spcAft>
              <a:defRPr sz="2700" b="0" i="0">
                <a:solidFill>
                  <a:srgbClr val="333333"/>
                </a:solidFill>
                <a:latin typeface="Arial"/>
              </a:defRPr>
            </a:pPr>
            <a:r>
              <a:rPr sz="2700" b="0" i="0">
                <a:solidFill>
                  <a:srgbClr val="333333"/>
                </a:solidFill>
                <a:latin typeface="Arial"/>
              </a:rPr>
              <a:t>• Check visit notes, not just structured lab tabs — key values hide in narrative</a:t>
            </a:r>
          </a:p>
          <a:p>
            <a:pPr algn="l">
              <a:spcAft>
                <a:spcPts val="400"/>
              </a:spcAft>
              <a:defRPr sz="2700" b="0" i="0">
                <a:solidFill>
                  <a:srgbClr val="333333"/>
                </a:solidFill>
                <a:latin typeface="Arial"/>
              </a:defRPr>
            </a:pPr>
            <a:r>
              <a:rPr sz="2700" b="0" i="0">
                <a:solidFill>
                  <a:srgbClr val="333333"/>
                </a:solidFill>
                <a:latin typeface="Arial"/>
              </a:rPr>
              <a:t>• Active vs. discontinued status matters — discontinued doesn't mean safe to restart</a:t>
            </a:r>
          </a:p>
          <a:p>
            <a:pPr algn="l">
              <a:spcAft>
                <a:spcPts val="400"/>
              </a:spcAft>
              <a:defRPr sz="2700" b="0" i="0">
                <a:solidFill>
                  <a:srgbClr val="333333"/>
                </a:solidFill>
                <a:latin typeface="Arial"/>
              </a:defRPr>
            </a:pPr>
            <a:r>
              <a:rPr sz="2700" b="0" i="0">
                <a:solidFill>
                  <a:srgbClr val="333333"/>
                </a:solidFill>
                <a:latin typeface="Arial"/>
              </a:rPr>
              <a:t>• The 'Triple Whammy' (ACE + diuretic + NSAID) is a classic med safety pattern</a:t>
            </a:r>
          </a:p>
          <a:p>
            <a:pPr algn="l">
              <a:spcAft>
                <a:spcPts val="400"/>
              </a:spcAft>
              <a:defRPr sz="2700" b="0" i="0">
                <a:solidFill>
                  <a:srgbClr val="333333"/>
                </a:solidFill>
                <a:latin typeface="Arial"/>
              </a:defRPr>
            </a:pPr>
            <a:r>
              <a:rPr sz="2700" b="0" i="0">
                <a:solidFill>
                  <a:srgbClr val="333333"/>
                </a:solidFill>
                <a:latin typeface="Arial"/>
              </a:rPr>
              <a:t>• Elevated K+ (5.8) + ACE inhibitor = do NOT add spironolactone or K+ supplements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8B1538"/>
        </a:solidFill>
        <a:effectLst/>
      </p:bgPr>
    </p:bg>
    <p:spTree>
      <p:nvGrpSpPr>
        <p:cNvPr id="1" name=""/>
        <p:cNvGrpSpPr/>
        <p:nvPr/>
      </p:nvGrpSpPr>
      <p:grpSpPr/>
      <p:sp>
        <p:nvSpPr>
          <p:cNvPr id="2" name="TextBox 1"/>
          <p:cNvSpPr txBox="1"/>
          <p:nvPr/>
        </p:nvSpPr>
        <p:spPr>
          <a:xfrm>
            <a:off x="914400" y="3840480"/>
            <a:ext cx="16459200" cy="1097280"/>
          </a:xfrm>
          <a:prstGeom prst="rect">
            <a:avLst/>
          </a:prstGeom>
          <a:noFill/>
        </p:spPr>
        <p:txBody>
          <a:bodyPr wrap="none">
            <a:spAutoFit/>
          </a:bodyPr>
          <a:lstStyle/>
          <a:p>
            <a:pPr algn="ctr">
              <a:defRPr sz="5400" b="1" i="0">
                <a:solidFill>
                  <a:srgbClr val="FFFFFF"/>
                </a:solidFill>
                <a:latin typeface="Arial"/>
              </a:defRPr>
            </a:pPr>
            <a:r>
              <a:rPr sz="5400" b="1" i="0">
                <a:solidFill>
                  <a:srgbClr val="FFFFFF"/>
                </a:solidFill>
                <a:latin typeface="Arial"/>
              </a:rPr>
              <a:t>Mission B: Marcus Thorne</a:t>
            </a:r>
          </a:p>
        </p:txBody>
      </p:sp>
      <p:sp>
        <p:nvSpPr>
          <p:cNvPr id="3" name="TextBox 2"/>
          <p:cNvSpPr txBox="1"/>
          <p:nvPr/>
        </p:nvSpPr>
        <p:spPr>
          <a:xfrm>
            <a:off x="914400" y="5212080"/>
            <a:ext cx="16459200" cy="822960"/>
          </a:xfrm>
          <a:prstGeom prst="rect">
            <a:avLst/>
          </a:prstGeom>
          <a:noFill/>
        </p:spPr>
        <p:txBody>
          <a:bodyPr wrap="none">
            <a:spAutoFit/>
          </a:bodyPr>
          <a:lstStyle/>
          <a:p>
            <a:pPr algn="ctr">
              <a:defRPr sz="2700" b="0" i="1">
                <a:solidFill>
                  <a:srgbClr val="FFFFFF"/>
                </a:solidFill>
                <a:latin typeface="Arial"/>
              </a:defRPr>
            </a:pPr>
            <a:r>
              <a:rPr sz="2700" b="0" i="1">
                <a:solidFill>
                  <a:srgbClr val="FFFFFF"/>
                </a:solidFill>
                <a:latin typeface="Arial"/>
              </a:rPr>
              <a:t>RAG ON vs RAG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Q2 — MARCUS THORNE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3600" b="1" i="0">
                <a:solidFill>
                  <a:srgbClr val="8B1538"/>
                </a:solidFill>
                <a:latin typeface="Arial"/>
              </a:defRPr>
            </a:pPr>
            <a:r>
              <a:rPr sz="3600" b="1" i="0">
                <a:solidFill>
                  <a:srgbClr val="8B1538"/>
                </a:solidFill>
                <a:latin typeface="Arial"/>
              </a:rPr>
              <a:t>Marcus Thorne — The Case</a:t>
            </a:r>
          </a:p>
        </p:txBody>
      </p:sp>
      <p:pic>
        <p:nvPicPr>
          <p:cNvPr id="4" name="Picture 3" descr="05_marcus_case.png"/>
          <p:cNvPicPr>
            <a:picLocks noChangeAspect="1"/>
          </p:cNvPicPr>
          <p:nvPr/>
        </p:nvPicPr>
        <p:blipFill>
          <a:blip r:embed="rId2"/>
          <a:stretch>
            <a:fillRect/>
          </a:stretch>
        </p:blipFill>
        <p:spPr>
          <a:xfrm>
            <a:off x="731520" y="1577340"/>
            <a:ext cx="16824960" cy="78867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Q2 — MARCUS THORNE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3600" b="1" i="0">
                <a:solidFill>
                  <a:srgbClr val="8B1538"/>
                </a:solidFill>
                <a:latin typeface="Arial"/>
              </a:defRPr>
            </a:pPr>
            <a:r>
              <a:rPr sz="3600" b="1" i="0">
                <a:solidFill>
                  <a:srgbClr val="8B1538"/>
                </a:solidFill>
                <a:latin typeface="Arial"/>
              </a:rPr>
              <a:t>RAG OFF vs RAG ON</a:t>
            </a:r>
          </a:p>
        </p:txBody>
      </p:sp>
      <p:pic>
        <p:nvPicPr>
          <p:cNvPr id="4" name="Picture 3" descr="02_rag_comparison.png"/>
          <p:cNvPicPr>
            <a:picLocks noChangeAspect="1"/>
          </p:cNvPicPr>
          <p:nvPr/>
        </p:nvPicPr>
        <p:blipFill>
          <a:blip r:embed="rId2"/>
          <a:stretch>
            <a:fillRect/>
          </a:stretch>
        </p:blipFill>
        <p:spPr>
          <a:xfrm>
            <a:off x="731520" y="1577340"/>
            <a:ext cx="16824960" cy="78867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Q2 — MARCUS THORNE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What You Found</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600" b="1" i="0">
                <a:solidFill>
                  <a:srgbClr val="333333"/>
                </a:solidFill>
                <a:latin typeface="Arial"/>
              </a:defRPr>
            </a:pPr>
            <a:r>
              <a:rPr sz="2600" b="1" i="0">
                <a:solidFill>
                  <a:srgbClr val="333333"/>
                </a:solidFill>
                <a:latin typeface="Arial"/>
              </a:rPr>
              <a:t>Key Observations Across Submissions</a:t>
            </a:r>
          </a:p>
          <a:p>
            <a:pPr algn="l">
              <a:spcAft>
                <a:spcPts val="400"/>
              </a:spcAft>
              <a:defRPr sz="2400" b="0" i="0">
                <a:solidFill>
                  <a:srgbClr val="333333"/>
                </a:solidFill>
                <a:latin typeface="Arial"/>
              </a:defRPr>
            </a:pPr>
            <a:r>
              <a:rPr sz="2400" b="0" i="0">
                <a:solidFill>
                  <a:srgbClr val="333333"/>
                </a:solidFill>
                <a:latin typeface="Arial"/>
              </a:rPr>
              <a:t>• RAG ON responses were 2-3x more specific in medication recommendations</a:t>
            </a:r>
          </a:p>
          <a:p>
            <a:pPr algn="l">
              <a:spcAft>
                <a:spcPts val="400"/>
              </a:spcAft>
              <a:defRPr sz="2400" b="0" i="0">
                <a:solidFill>
                  <a:srgbClr val="333333"/>
                </a:solidFill>
                <a:latin typeface="Arial"/>
              </a:defRPr>
            </a:pPr>
            <a:r>
              <a:rPr sz="2400" b="0" i="0">
                <a:solidFill>
                  <a:srgbClr val="333333"/>
                </a:solidFill>
                <a:latin typeface="Arial"/>
              </a:rPr>
              <a:t>• RAG ON cited actual lab values (HbA1c 8.7%, LDL 142) vs. generic thresholds</a:t>
            </a:r>
          </a:p>
          <a:p>
            <a:pPr algn="l">
              <a:spcAft>
                <a:spcPts val="400"/>
              </a:spcAft>
              <a:defRPr sz="2400" b="0" i="0">
                <a:solidFill>
                  <a:srgbClr val="333333"/>
                </a:solidFill>
                <a:latin typeface="Arial"/>
              </a:defRPr>
            </a:pPr>
            <a:r>
              <a:rPr sz="2400" b="0" i="0">
                <a:solidFill>
                  <a:srgbClr val="333333"/>
                </a:solidFill>
                <a:latin typeface="Arial"/>
              </a:rPr>
              <a:t>• RAG OFF used hedging language: 'consider,' 'if indicated,' 'may need'</a:t>
            </a:r>
          </a:p>
          <a:p>
            <a:pPr algn="l">
              <a:spcAft>
                <a:spcPts val="400"/>
              </a:spcAft>
              <a:defRPr sz="2400" b="0" i="0">
                <a:solidFill>
                  <a:srgbClr val="333333"/>
                </a:solidFill>
                <a:latin typeface="Arial"/>
              </a:defRPr>
            </a:pPr>
            <a:r>
              <a:rPr sz="2400" b="0" i="0">
                <a:solidFill>
                  <a:srgbClr val="333333"/>
                </a:solidFill>
                <a:latin typeface="Arial"/>
              </a:rPr>
              <a:t>• RAG ON used confident language: 'recommend,' 'should be added,' 'is above target'</a:t>
            </a:r>
          </a:p>
          <a:p>
            <a:pPr algn="l">
              <a:spcAft>
                <a:spcPts val="400"/>
              </a:spcAft>
              <a:defRPr sz="2400" b="0" i="0">
                <a:solidFill>
                  <a:srgbClr val="333333"/>
                </a:solidFill>
                <a:latin typeface="Arial"/>
              </a:defRPr>
            </a:pPr>
            <a:r>
              <a:rPr sz="2400" b="0" i="0">
                <a:solidFill>
                  <a:srgbClr val="333333"/>
                </a:solidFill>
                <a:latin typeface="Arial"/>
              </a:rPr>
              <a:t>• Several teams noted RAG ON correctly flagged the sulfa allergy when recommending meds</a:t>
            </a:r>
          </a:p>
          <a:p>
            <a:pPr algn="l">
              <a:spcAft>
                <a:spcPts val="400"/>
              </a:spcAft>
              <a:defRPr sz="2400" b="0" i="0">
                <a:solidFill>
                  <a:srgbClr val="333333"/>
                </a:solidFill>
                <a:latin typeface="Arial"/>
              </a:defRPr>
            </a:pPr>
            <a:r>
              <a:rPr sz="2400" b="0" i="0">
                <a:solidFill>
                  <a:srgbClr val="333333"/>
                </a:solidFill>
                <a:latin typeface="Arial"/>
              </a:rPr>
              <a:t>• HbA1c and LDL were only available via visit notes — RAG ON surfaced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Q2 — MARCUS THORNE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Student Highlights</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700" b="1" i="0">
                <a:solidFill>
                  <a:srgbClr val="333333"/>
                </a:solidFill>
                <a:latin typeface="Arial"/>
              </a:defRPr>
            </a:pPr>
            <a:r>
              <a:rPr sz="2700" b="1" i="0">
                <a:solidFill>
                  <a:srgbClr val="333333"/>
                </a:solidFill>
                <a:latin typeface="Arial"/>
              </a:rPr>
              <a:t>Brenda</a:t>
            </a:r>
          </a:p>
          <a:p>
            <a:pPr algn="l">
              <a:spcAft>
                <a:spcPts val="400"/>
              </a:spcAft>
              <a:defRPr sz="2600" b="0" i="0">
                <a:solidFill>
                  <a:srgbClr val="333333"/>
                </a:solidFill>
                <a:latin typeface="Arial"/>
              </a:defRPr>
            </a:pPr>
            <a:r>
              <a:rPr sz="2600" b="0" i="0">
                <a:solidFill>
                  <a:srgbClr val="333333"/>
                </a:solidFill>
                <a:latin typeface="Arial"/>
              </a:rPr>
              <a:t>• "RAG OFF is honest but clinically useless... every recommendation becomes a generic 'it depends'"</a:t>
            </a:r>
          </a:p>
          <a:p>
            <a:pPr algn="l">
              <a:spcAft>
                <a:spcPts val="400"/>
              </a:spcAft>
              <a:defRPr sz="2700" b="1" i="0">
                <a:solidFill>
                  <a:srgbClr val="333333"/>
                </a:solidFill>
                <a:latin typeface="Arial"/>
              </a:defRPr>
            </a:pPr>
            <a:r>
              <a:rPr sz="2700" b="1" i="0">
                <a:solidFill>
                  <a:srgbClr val="333333"/>
                </a:solidFill>
                <a:latin typeface="Arial"/>
              </a:rPr>
              <a:t>Matias</a:t>
            </a:r>
          </a:p>
          <a:p>
            <a:pPr algn="l">
              <a:spcAft>
                <a:spcPts val="400"/>
              </a:spcAft>
              <a:defRPr sz="2600" b="0" i="0">
                <a:solidFill>
                  <a:srgbClr val="333333"/>
                </a:solidFill>
                <a:latin typeface="Arial"/>
              </a:defRPr>
            </a:pPr>
            <a:r>
              <a:rPr sz="2600" b="0" i="0">
                <a:solidFill>
                  <a:srgbClr val="333333"/>
                </a:solidFill>
                <a:latin typeface="Arial"/>
              </a:rPr>
              <a:t>• "RAG OFF provides same result but grounded less on evidence... RAG ON more certain in language"</a:t>
            </a:r>
          </a:p>
          <a:p>
            <a:pPr algn="l">
              <a:spcAft>
                <a:spcPts val="400"/>
              </a:spcAft>
              <a:defRPr sz="2700" b="1" i="0">
                <a:solidFill>
                  <a:srgbClr val="333333"/>
                </a:solidFill>
                <a:latin typeface="Arial"/>
              </a:defRPr>
            </a:pPr>
            <a:r>
              <a:rPr sz="2700" b="1" i="0">
                <a:solidFill>
                  <a:srgbClr val="333333"/>
                </a:solidFill>
                <a:latin typeface="Arial"/>
              </a:rPr>
              <a:t>James</a:t>
            </a:r>
          </a:p>
          <a:p>
            <a:pPr algn="l">
              <a:spcAft>
                <a:spcPts val="400"/>
              </a:spcAft>
              <a:defRPr sz="2600" b="0" i="0">
                <a:solidFill>
                  <a:srgbClr val="333333"/>
                </a:solidFill>
                <a:latin typeface="Arial"/>
              </a:defRPr>
            </a:pPr>
            <a:r>
              <a:rPr sz="2600" b="0" i="0">
                <a:solidFill>
                  <a:srgbClr val="333333"/>
                </a:solidFill>
                <a:latin typeface="Arial"/>
              </a:rPr>
              <a:t>• Provided a full structured comparison with evidence grounding checks — systematically evaluated each recommendation against chart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Q2 — MARCUS THORNE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The Catch: False Confidence</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600" b="1" i="0">
                <a:solidFill>
                  <a:srgbClr val="333333"/>
                </a:solidFill>
                <a:latin typeface="Arial"/>
              </a:defRPr>
            </a:pPr>
            <a:r>
              <a:rPr sz="2600" b="1" i="0">
                <a:solidFill>
                  <a:srgbClr val="333333"/>
                </a:solidFill>
                <a:latin typeface="Arial"/>
              </a:rPr>
              <a:t>RAG ON Isn't Perfect</a:t>
            </a:r>
          </a:p>
          <a:p>
            <a:pPr algn="l">
              <a:spcAft>
                <a:spcPts val="400"/>
              </a:spcAft>
              <a:defRPr sz="2400" b="0" i="0">
                <a:solidFill>
                  <a:srgbClr val="333333"/>
                </a:solidFill>
                <a:latin typeface="Arial"/>
              </a:defRPr>
            </a:pPr>
            <a:r>
              <a:rPr sz="2400" b="0" i="0">
                <a:solidFill>
                  <a:srgbClr val="333333"/>
                </a:solidFill>
                <a:latin typeface="Arial"/>
              </a:rPr>
              <a:t>• Grounding does not equal correctness — the AI can confidently cite a value and still make a wrong recommendation</a:t>
            </a:r>
          </a:p>
          <a:p>
            <a:pPr algn="l">
              <a:spcAft>
                <a:spcPts val="400"/>
              </a:spcAft>
              <a:defRPr sz="2400" b="0" i="0">
                <a:solidFill>
                  <a:srgbClr val="333333"/>
                </a:solidFill>
                <a:latin typeface="Arial"/>
              </a:defRPr>
            </a:pPr>
            <a:r>
              <a:rPr sz="2400" b="0" i="0">
                <a:solidFill>
                  <a:srgbClr val="333333"/>
                </a:solidFill>
                <a:latin typeface="Arial"/>
              </a:rPr>
              <a:t>• Incomplete retrieval: if the RAG system misses a document, the AI won't know what it doesn't know</a:t>
            </a:r>
          </a:p>
          <a:p>
            <a:pPr algn="l">
              <a:spcAft>
                <a:spcPts val="400"/>
              </a:spcAft>
              <a:defRPr sz="2400" b="0" i="0">
                <a:solidFill>
                  <a:srgbClr val="333333"/>
                </a:solidFill>
                <a:latin typeface="Arial"/>
              </a:defRPr>
            </a:pPr>
            <a:r>
              <a:rPr sz="2400" b="0" i="0">
                <a:solidFill>
                  <a:srgbClr val="333333"/>
                </a:solidFill>
                <a:latin typeface="Arial"/>
              </a:rPr>
              <a:t>• Brenda's insight: 'RAG ON introduces false confidence from incomplete retrieval'</a:t>
            </a:r>
          </a:p>
          <a:p>
            <a:pPr algn="l">
              <a:spcAft>
                <a:spcPts val="400"/>
              </a:spcAft>
              <a:defRPr sz="2600" b="1" i="0">
                <a:solidFill>
                  <a:srgbClr val="333333"/>
                </a:solidFill>
                <a:latin typeface="Arial"/>
              </a:defRPr>
            </a:pPr>
            <a:r>
              <a:rPr sz="2600" b="1" i="0">
                <a:solidFill>
                  <a:srgbClr val="333333"/>
                </a:solidFill>
                <a:latin typeface="Arial"/>
              </a:rPr>
              <a:t>The Clinician's Role</a:t>
            </a:r>
          </a:p>
          <a:p>
            <a:pPr algn="l">
              <a:spcAft>
                <a:spcPts val="400"/>
              </a:spcAft>
              <a:defRPr sz="2400" b="0" i="0">
                <a:solidFill>
                  <a:srgbClr val="333333"/>
                </a:solidFill>
                <a:latin typeface="Arial"/>
              </a:defRPr>
            </a:pPr>
            <a:r>
              <a:rPr sz="2400" b="0" i="0">
                <a:solidFill>
                  <a:srgbClr val="333333"/>
                </a:solidFill>
                <a:latin typeface="Arial"/>
              </a:rPr>
              <a:t>• RAG makes the AI more useful — but verification is still required</a:t>
            </a:r>
          </a:p>
          <a:p>
            <a:pPr algn="l">
              <a:spcAft>
                <a:spcPts val="400"/>
              </a:spcAft>
              <a:defRPr sz="2400" b="0" i="0">
                <a:solidFill>
                  <a:srgbClr val="333333"/>
                </a:solidFill>
                <a:latin typeface="Arial"/>
              </a:defRPr>
            </a:pPr>
            <a:r>
              <a:rPr sz="2400" b="0" i="0">
                <a:solidFill>
                  <a:srgbClr val="333333"/>
                </a:solidFill>
                <a:latin typeface="Arial"/>
              </a:rPr>
              <a:t>• Always cross-check AI recommendations against the full chart</a:t>
            </a:r>
          </a:p>
          <a:p>
            <a:pPr algn="l">
              <a:spcAft>
                <a:spcPts val="400"/>
              </a:spcAft>
              <a:defRPr sz="2400" b="0" i="0">
                <a:solidFill>
                  <a:srgbClr val="333333"/>
                </a:solidFill>
                <a:latin typeface="Arial"/>
              </a:defRPr>
            </a:pPr>
            <a:r>
              <a:rPr sz="2400" b="0" i="0">
                <a:solidFill>
                  <a:srgbClr val="333333"/>
                </a:solidFill>
                <a:latin typeface="Arial"/>
              </a:rPr>
              <a:t>• The AI's confidence level should not replace your own clinical judgment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Q2 — MARCUS THORNE</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Q2 Takeaway</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700" b="0" i="0">
                <a:solidFill>
                  <a:srgbClr val="333333"/>
                </a:solidFill>
                <a:latin typeface="Arial"/>
              </a:defRPr>
            </a:pPr>
            <a:r>
              <a:rPr sz="2700" b="0" i="0">
                <a:solidFill>
                  <a:srgbClr val="333333"/>
                </a:solidFill>
                <a:latin typeface="Arial"/>
              </a:rPr>
              <a:t>• RAG dramatically improves specificity and clinical usefulness</a:t>
            </a:r>
          </a:p>
          <a:p>
            <a:pPr algn="l">
              <a:spcAft>
                <a:spcPts val="400"/>
              </a:spcAft>
              <a:defRPr sz="2700" b="0" i="0">
                <a:solidFill>
                  <a:srgbClr val="333333"/>
                </a:solidFill>
                <a:latin typeface="Arial"/>
              </a:defRPr>
            </a:pPr>
            <a:r>
              <a:rPr sz="2700" b="0" i="0">
                <a:solidFill>
                  <a:srgbClr val="333333"/>
                </a:solidFill>
                <a:latin typeface="Arial"/>
              </a:rPr>
              <a:t>• Without RAG, AI gives generic guidelines — with RAG, it gives patient-specific advice</a:t>
            </a:r>
          </a:p>
          <a:p>
            <a:pPr algn="l">
              <a:spcAft>
                <a:spcPts val="400"/>
              </a:spcAft>
              <a:defRPr sz="2700" b="0" i="0">
                <a:solidFill>
                  <a:srgbClr val="333333"/>
                </a:solidFill>
                <a:latin typeface="Arial"/>
              </a:defRPr>
            </a:pPr>
            <a:r>
              <a:rPr sz="2700" b="0" i="0">
                <a:solidFill>
                  <a:srgbClr val="333333"/>
                </a:solidFill>
                <a:latin typeface="Arial"/>
              </a:rPr>
              <a:t>• Key values (HbA1c 8.7%, LDL 142) can hide in narrative notes, not structured data</a:t>
            </a:r>
          </a:p>
          <a:p>
            <a:pPr algn="l">
              <a:spcAft>
                <a:spcPts val="400"/>
              </a:spcAft>
              <a:defRPr sz="2700" b="0" i="0">
                <a:solidFill>
                  <a:srgbClr val="333333"/>
                </a:solidFill>
                <a:latin typeface="Arial"/>
              </a:defRPr>
            </a:pPr>
            <a:r>
              <a:rPr sz="2700" b="0" i="0">
                <a:solidFill>
                  <a:srgbClr val="333333"/>
                </a:solidFill>
                <a:latin typeface="Arial"/>
              </a:rPr>
              <a:t>• Watch for overconfidence — grounded language doesn't guarantee correctness</a:t>
            </a:r>
          </a:p>
          <a:p>
            <a:pPr algn="l">
              <a:spcAft>
                <a:spcPts val="400"/>
              </a:spcAft>
              <a:defRPr sz="2700" b="0" i="0">
                <a:solidFill>
                  <a:srgbClr val="333333"/>
                </a:solidFill>
                <a:latin typeface="Arial"/>
              </a:defRPr>
            </a:pPr>
            <a:r>
              <a:rPr sz="2700" b="0" i="0">
                <a:solidFill>
                  <a:srgbClr val="333333"/>
                </a:solidFill>
                <a:latin typeface="Arial"/>
              </a:rPr>
              <a:t>• Clinician verification is non-negotiable, even with RAG 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8B1538"/>
        </a:solidFill>
        <a:effectLst/>
      </p:bgPr>
    </p:bg>
    <p:spTree>
      <p:nvGrpSpPr>
        <p:cNvPr id="1" name=""/>
        <p:cNvGrpSpPr/>
        <p:nvPr/>
      </p:nvGrpSpPr>
      <p:grpSpPr/>
      <p:sp>
        <p:nvSpPr>
          <p:cNvPr id="2" name="TextBox 1"/>
          <p:cNvSpPr txBox="1"/>
          <p:nvPr/>
        </p:nvSpPr>
        <p:spPr>
          <a:xfrm>
            <a:off x="914400" y="3840480"/>
            <a:ext cx="16459200" cy="1097280"/>
          </a:xfrm>
          <a:prstGeom prst="rect">
            <a:avLst/>
          </a:prstGeom>
          <a:noFill/>
        </p:spPr>
        <p:txBody>
          <a:bodyPr wrap="none">
            <a:spAutoFit/>
          </a:bodyPr>
          <a:lstStyle/>
          <a:p>
            <a:pPr algn="ctr">
              <a:defRPr sz="5400" b="1" i="0">
                <a:solidFill>
                  <a:srgbClr val="FFFFFF"/>
                </a:solidFill>
                <a:latin typeface="Arial"/>
              </a:defRPr>
            </a:pPr>
            <a:r>
              <a:rPr sz="5400" b="1" i="0">
                <a:solidFill>
                  <a:srgbClr val="FFFFFF"/>
                </a:solidFill>
                <a:latin typeface="Arial"/>
              </a:rPr>
              <a:t>Mission C: Chloe Davis</a:t>
            </a:r>
          </a:p>
        </p:txBody>
      </p:sp>
      <p:sp>
        <p:nvSpPr>
          <p:cNvPr id="3" name="TextBox 2"/>
          <p:cNvSpPr txBox="1"/>
          <p:nvPr/>
        </p:nvSpPr>
        <p:spPr>
          <a:xfrm>
            <a:off x="914400" y="5212080"/>
            <a:ext cx="16459200" cy="822960"/>
          </a:xfrm>
          <a:prstGeom prst="rect">
            <a:avLst/>
          </a:prstGeom>
          <a:noFill/>
        </p:spPr>
        <p:txBody>
          <a:bodyPr wrap="none">
            <a:spAutoFit/>
          </a:bodyPr>
          <a:lstStyle/>
          <a:p>
            <a:pPr algn="ctr">
              <a:defRPr sz="2700" b="0" i="1">
                <a:solidFill>
                  <a:srgbClr val="FFFFFF"/>
                </a:solidFill>
                <a:latin typeface="Arial"/>
              </a:defRPr>
            </a:pPr>
            <a:r>
              <a:rPr sz="2700" b="0" i="1">
                <a:solidFill>
                  <a:srgbClr val="FFFFFF"/>
                </a:solidFill>
                <a:latin typeface="Arial"/>
              </a:rPr>
              <a:t>Minimum Necessary Context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Q3 — CHLOE DAVIS</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3600" b="1" i="0">
                <a:solidFill>
                  <a:srgbClr val="8B1538"/>
                </a:solidFill>
                <a:latin typeface="Arial"/>
              </a:defRPr>
            </a:pPr>
            <a:r>
              <a:rPr sz="3600" b="1" i="0">
                <a:solidFill>
                  <a:srgbClr val="8B1538"/>
                </a:solidFill>
                <a:latin typeface="Arial"/>
              </a:rPr>
              <a:t>Chloe Davis — The Case</a:t>
            </a:r>
          </a:p>
        </p:txBody>
      </p:sp>
      <p:pic>
        <p:nvPicPr>
          <p:cNvPr id="4" name="Picture 3" descr="06_chloe_case.png"/>
          <p:cNvPicPr>
            <a:picLocks noChangeAspect="1"/>
          </p:cNvPicPr>
          <p:nvPr/>
        </p:nvPicPr>
        <p:blipFill>
          <a:blip r:embed="rId2"/>
          <a:stretch>
            <a:fillRect/>
          </a:stretch>
        </p:blipFill>
        <p:spPr>
          <a:xfrm>
            <a:off x="731520" y="1577340"/>
            <a:ext cx="16824960" cy="78867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Q3 — CHLOE DAVIS</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3600" b="1" i="0">
                <a:solidFill>
                  <a:srgbClr val="8B1538"/>
                </a:solidFill>
                <a:latin typeface="Arial"/>
              </a:defRPr>
            </a:pPr>
            <a:r>
              <a:rPr sz="3600" b="1" i="0">
                <a:solidFill>
                  <a:srgbClr val="8B1538"/>
                </a:solidFill>
                <a:latin typeface="Arial"/>
              </a:rPr>
              <a:t>Three Context Levels</a:t>
            </a:r>
          </a:p>
        </p:txBody>
      </p:sp>
      <p:pic>
        <p:nvPicPr>
          <p:cNvPr id="4" name="Picture 3" descr="03_context_levels.png"/>
          <p:cNvPicPr>
            <a:picLocks noChangeAspect="1"/>
          </p:cNvPicPr>
          <p:nvPr/>
        </p:nvPicPr>
        <p:blipFill>
          <a:blip r:embed="rId2"/>
          <a:stretch>
            <a:fillRect/>
          </a:stretch>
        </p:blipFill>
        <p:spPr>
          <a:xfrm>
            <a:off x="731520" y="1577340"/>
            <a:ext cx="16824960" cy="78867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Q3 — CHLOE DAVIS</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Your Choices</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600" b="1" i="0">
                <a:solidFill>
                  <a:srgbClr val="333333"/>
                </a:solidFill>
                <a:latin typeface="Arial"/>
              </a:defRPr>
            </a:pPr>
            <a:r>
              <a:rPr sz="2600" b="1" i="0">
                <a:solidFill>
                  <a:srgbClr val="333333"/>
                </a:solidFill>
                <a:latin typeface="Arial"/>
              </a:rPr>
              <a:t>Most Teams Chose STANDARD</a:t>
            </a:r>
          </a:p>
          <a:p>
            <a:pPr algn="l">
              <a:spcAft>
                <a:spcPts val="400"/>
              </a:spcAft>
              <a:defRPr sz="2400" b="0" i="0">
                <a:solidFill>
                  <a:srgbClr val="333333"/>
                </a:solidFill>
                <a:latin typeface="Arial"/>
              </a:defRPr>
            </a:pPr>
            <a:r>
              <a:rPr sz="2400" b="0" i="0">
                <a:solidFill>
                  <a:srgbClr val="333333"/>
                </a:solidFill>
                <a:latin typeface="Arial"/>
              </a:rPr>
              <a:t>• Enough to flag Isotretinoin + pregnancy without exposing visit narrative</a:t>
            </a:r>
          </a:p>
          <a:p>
            <a:pPr algn="l">
              <a:spcAft>
                <a:spcPts val="400"/>
              </a:spcAft>
              <a:defRPr sz="2400" b="0" i="0">
                <a:solidFill>
                  <a:srgbClr val="333333"/>
                </a:solidFill>
                <a:latin typeface="Arial"/>
              </a:defRPr>
            </a:pPr>
            <a:r>
              <a:rPr sz="2400" b="0" i="0">
                <a:solidFill>
                  <a:srgbClr val="333333"/>
                </a:solidFill>
                <a:latin typeface="Arial"/>
              </a:rPr>
              <a:t>• Balanced clinical usefulness with privacy protection</a:t>
            </a:r>
          </a:p>
          <a:p>
            <a:pPr algn="l">
              <a:spcAft>
                <a:spcPts val="400"/>
              </a:spcAft>
              <a:defRPr sz="2600" b="1" i="0">
                <a:solidFill>
                  <a:srgbClr val="333333"/>
                </a:solidFill>
                <a:latin typeface="Arial"/>
              </a:defRPr>
            </a:pPr>
            <a:r>
              <a:rPr sz="2600" b="1" i="0">
                <a:solidFill>
                  <a:srgbClr val="333333"/>
                </a:solidFill>
                <a:latin typeface="Arial"/>
              </a:rPr>
              <a:t>Some Teams Chose FULL</a:t>
            </a:r>
          </a:p>
          <a:p>
            <a:pPr algn="l">
              <a:spcAft>
                <a:spcPts val="400"/>
              </a:spcAft>
              <a:defRPr sz="2400" b="0" i="0">
                <a:solidFill>
                  <a:srgbClr val="333333"/>
                </a:solidFill>
                <a:latin typeface="Arial"/>
              </a:defRPr>
            </a:pPr>
            <a:r>
              <a:rPr sz="2400" b="0" i="0">
                <a:solidFill>
                  <a:srgbClr val="333333"/>
                </a:solidFill>
                <a:latin typeface="Arial"/>
              </a:rPr>
              <a:t>• Needed to see the April 2 note where the provider already acted</a:t>
            </a:r>
          </a:p>
          <a:p>
            <a:pPr algn="l">
              <a:spcAft>
                <a:spcPts val="400"/>
              </a:spcAft>
              <a:defRPr sz="2400" b="0" i="0">
                <a:solidFill>
                  <a:srgbClr val="333333"/>
                </a:solidFill>
                <a:latin typeface="Arial"/>
              </a:defRPr>
            </a:pPr>
            <a:r>
              <a:rPr sz="2400" b="0" i="0">
                <a:solidFill>
                  <a:srgbClr val="333333"/>
                </a:solidFill>
                <a:latin typeface="Arial"/>
              </a:rPr>
              <a:t>• Argument: without this context, the AI might duplicate an urgent intervention</a:t>
            </a:r>
          </a:p>
          <a:p>
            <a:pPr algn="l">
              <a:spcAft>
                <a:spcPts val="400"/>
              </a:spcAft>
              <a:defRPr sz="2600" b="1" i="0">
                <a:solidFill>
                  <a:srgbClr val="333333"/>
                </a:solidFill>
                <a:latin typeface="Arial"/>
              </a:defRPr>
            </a:pPr>
            <a:r>
              <a:rPr sz="2600" b="1" i="0">
                <a:solidFill>
                  <a:srgbClr val="333333"/>
                </a:solidFill>
                <a:latin typeface="Arial"/>
              </a:rPr>
              <a:t>Strongest Reasoning: NYR2, Natalie, Penelope</a:t>
            </a:r>
          </a:p>
          <a:p>
            <a:pPr algn="l">
              <a:spcAft>
                <a:spcPts val="400"/>
              </a:spcAft>
              <a:defRPr sz="2400" b="0" i="0">
                <a:solidFill>
                  <a:srgbClr val="333333"/>
                </a:solidFill>
                <a:latin typeface="Arial"/>
              </a:defRPr>
            </a:pPr>
            <a:r>
              <a:rPr sz="2400" b="0" i="0">
                <a:solidFill>
                  <a:srgbClr val="333333"/>
                </a:solidFill>
                <a:latin typeface="Arial"/>
              </a:rPr>
              <a:t>• Explained why STANDARD over LIMITED and why STANDARD over FULL</a:t>
            </a:r>
          </a:p>
          <a:p>
            <a:pPr algn="l">
              <a:spcAft>
                <a:spcPts val="400"/>
              </a:spcAft>
              <a:defRPr sz="2400" b="0" i="0">
                <a:solidFill>
                  <a:srgbClr val="333333"/>
                </a:solidFill>
                <a:latin typeface="Arial"/>
              </a:defRPr>
            </a:pPr>
            <a:r>
              <a:rPr sz="2400" b="0" i="0">
                <a:solidFill>
                  <a:srgbClr val="333333"/>
                </a:solidFill>
                <a:latin typeface="Arial"/>
              </a:rPr>
              <a:t>• Didn't just pick a level — justified what each level adds and what it costs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Q3 — CHLOE DAVIS</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Student Highlights</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700" b="1" i="0">
                <a:solidFill>
                  <a:srgbClr val="333333"/>
                </a:solidFill>
                <a:latin typeface="Arial"/>
              </a:defRPr>
            </a:pPr>
            <a:r>
              <a:rPr sz="2700" b="1" i="0">
                <a:solidFill>
                  <a:srgbClr val="333333"/>
                </a:solidFill>
                <a:latin typeface="Arial"/>
              </a:rPr>
              <a:t>NYR2</a:t>
            </a:r>
          </a:p>
          <a:p>
            <a:pPr algn="l">
              <a:spcAft>
                <a:spcPts val="400"/>
              </a:spcAft>
              <a:defRPr sz="2600" b="0" i="0">
                <a:solidFill>
                  <a:srgbClr val="333333"/>
                </a:solidFill>
                <a:latin typeface="Arial"/>
              </a:defRPr>
            </a:pPr>
            <a:r>
              <a:rPr sz="2600" b="0" i="0">
                <a:solidFill>
                  <a:srgbClr val="333333"/>
                </a:solidFill>
                <a:latin typeface="Arial"/>
              </a:rPr>
              <a:t>• "STANDARD provides high clinical usefulness with moderate privacy risk"</a:t>
            </a:r>
          </a:p>
          <a:p>
            <a:pPr algn="l">
              <a:spcAft>
                <a:spcPts val="400"/>
              </a:spcAft>
              <a:defRPr sz="2700" b="1" i="0">
                <a:solidFill>
                  <a:srgbClr val="333333"/>
                </a:solidFill>
                <a:latin typeface="Arial"/>
              </a:defRPr>
            </a:pPr>
            <a:r>
              <a:rPr sz="2700" b="1" i="0">
                <a:solidFill>
                  <a:srgbClr val="333333"/>
                </a:solidFill>
                <a:latin typeface="Arial"/>
              </a:rPr>
              <a:t>Matias</a:t>
            </a:r>
          </a:p>
          <a:p>
            <a:pPr algn="l">
              <a:spcAft>
                <a:spcPts val="400"/>
              </a:spcAft>
              <a:defRPr sz="2600" b="0" i="0">
                <a:solidFill>
                  <a:srgbClr val="333333"/>
                </a:solidFill>
                <a:latin typeface="Arial"/>
              </a:defRPr>
            </a:pPr>
            <a:r>
              <a:rPr sz="2600" b="0" i="0">
                <a:solidFill>
                  <a:srgbClr val="333333"/>
                </a:solidFill>
                <a:latin typeface="Arial"/>
              </a:rPr>
              <a:t>• "With both limited and standard, the EHR assistant cannot make a grounded response... With full context, it makes a specific response"</a:t>
            </a:r>
          </a:p>
          <a:p>
            <a:pPr algn="l">
              <a:spcAft>
                <a:spcPts val="400"/>
              </a:spcAft>
              <a:defRPr sz="2700" b="1" i="0">
                <a:solidFill>
                  <a:srgbClr val="333333"/>
                </a:solidFill>
                <a:latin typeface="Arial"/>
              </a:defRPr>
            </a:pPr>
            <a:r>
              <a:rPr sz="2700" b="1" i="0">
                <a:solidFill>
                  <a:srgbClr val="333333"/>
                </a:solidFill>
                <a:latin typeface="Arial"/>
              </a:rPr>
              <a:t>James</a:t>
            </a:r>
          </a:p>
          <a:p>
            <a:pPr algn="l">
              <a:spcAft>
                <a:spcPts val="400"/>
              </a:spcAft>
              <a:defRPr sz="2600" b="0" i="0">
                <a:solidFill>
                  <a:srgbClr val="333333"/>
                </a:solidFill>
                <a:latin typeface="Arial"/>
              </a:defRPr>
            </a:pPr>
            <a:r>
              <a:rPr sz="2600" b="0" i="0">
                <a:solidFill>
                  <a:srgbClr val="333333"/>
                </a:solidFill>
                <a:latin typeface="Arial"/>
              </a:rPr>
              <a:t>• "Full context is necessary to understand the urgency of the intervention already taken"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Q3 — CHLOE DAVIS</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Q3 Takeaway</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700" b="0" i="0">
                <a:solidFill>
                  <a:srgbClr val="333333"/>
                </a:solidFill>
                <a:latin typeface="Arial"/>
              </a:defRPr>
            </a:pPr>
            <a:r>
              <a:rPr sz="2700" b="0" i="0">
                <a:solidFill>
                  <a:srgbClr val="333333"/>
                </a:solidFill>
                <a:latin typeface="Arial"/>
              </a:rPr>
              <a:t>• 'Minimum necessary' is context-dependent — there's no universal right answer</a:t>
            </a:r>
          </a:p>
          <a:p>
            <a:pPr algn="l">
              <a:spcAft>
                <a:spcPts val="400"/>
              </a:spcAft>
              <a:defRPr sz="2700" b="0" i="0">
                <a:solidFill>
                  <a:srgbClr val="333333"/>
                </a:solidFill>
                <a:latin typeface="Arial"/>
              </a:defRPr>
            </a:pPr>
            <a:r>
              <a:rPr sz="2700" b="0" i="0">
                <a:solidFill>
                  <a:srgbClr val="333333"/>
                </a:solidFill>
                <a:latin typeface="Arial"/>
              </a:rPr>
              <a:t>• More data does not always equal better care</a:t>
            </a:r>
          </a:p>
          <a:p>
            <a:pPr algn="l">
              <a:spcAft>
                <a:spcPts val="400"/>
              </a:spcAft>
              <a:defRPr sz="2700" b="0" i="0">
                <a:solidFill>
                  <a:srgbClr val="333333"/>
                </a:solidFill>
                <a:latin typeface="Arial"/>
              </a:defRPr>
            </a:pPr>
            <a:r>
              <a:rPr sz="2700" b="0" i="0">
                <a:solidFill>
                  <a:srgbClr val="333333"/>
                </a:solidFill>
                <a:latin typeface="Arial"/>
              </a:rPr>
              <a:t>• Privacy exposure should match clinical need — justify what you include AND exclude</a:t>
            </a:r>
          </a:p>
          <a:p>
            <a:pPr algn="l">
              <a:spcAft>
                <a:spcPts val="400"/>
              </a:spcAft>
              <a:defRPr sz="2700" b="0" i="0">
                <a:solidFill>
                  <a:srgbClr val="333333"/>
                </a:solidFill>
                <a:latin typeface="Arial"/>
              </a:defRPr>
            </a:pPr>
            <a:r>
              <a:rPr sz="2700" b="0" i="0">
                <a:solidFill>
                  <a:srgbClr val="333333"/>
                </a:solidFill>
                <a:latin typeface="Arial"/>
              </a:rPr>
              <a:t>• STANDARD catches the teratogen risk; FULL adds awareness of prior action</a:t>
            </a:r>
          </a:p>
          <a:p>
            <a:pPr algn="l">
              <a:spcAft>
                <a:spcPts val="400"/>
              </a:spcAft>
              <a:defRPr sz="2700" b="0" i="0">
                <a:solidFill>
                  <a:srgbClr val="333333"/>
                </a:solidFill>
                <a:latin typeface="Arial"/>
              </a:defRPr>
            </a:pPr>
            <a:r>
              <a:rPr sz="2700" b="0" i="0">
                <a:solidFill>
                  <a:srgbClr val="333333"/>
                </a:solidFill>
                <a:latin typeface="Arial"/>
              </a:rPr>
              <a:t>• The best answers explained the tradeoff, not just the choice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WRAP-UP</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Health Bench &amp; Extra Credit</a:t>
            </a:r>
          </a:p>
        </p:txBody>
      </p:sp>
      <p:graphicFrame>
        <p:nvGraphicFramePr>
          <p:cNvPr id="4" name="Table 3"/>
          <p:cNvGraphicFramePr>
            <a:graphicFrameLocks noGrp="1"/>
          </p:cNvGraphicFramePr>
          <p:nvPr/>
        </p:nvGraphicFramePr>
        <p:xfrm>
          <a:off x="914400" y="2468880"/>
          <a:ext cx="16459200" cy="5486400"/>
        </p:xfrm>
        <a:graphic>
          <a:graphicData uri="http://schemas.openxmlformats.org/drawingml/2006/table">
            <a:tbl>
              <a:tblPr firstRow="1" bandRow="1">
                <a:tableStyleId>{5C22544A-7EE6-4342-B048-85BDC9FD1C3A}</a:tableStyleId>
              </a:tblPr>
              <a:tblGrid>
                <a:gridCol w="5486400"/>
                <a:gridCol w="5486400"/>
                <a:gridCol w="5486400"/>
              </a:tblGrid>
              <a:tr h="1097280">
                <a:tc>
                  <a:txBody>
                    <a:bodyPr/>
                    <a:lstStyle/>
                    <a:p>
                      <a:pPr algn="l">
                        <a:defRPr sz="1800" b="1" i="0">
                          <a:solidFill>
                            <a:srgbClr val="FFFFFF"/>
                          </a:solidFill>
                          <a:latin typeface="Arial"/>
                        </a:defRPr>
                      </a:pPr>
                      <a:r>
                        <a:rPr sz="1800" b="1" i="0">
                          <a:solidFill>
                            <a:srgbClr val="FFFFFF"/>
                          </a:solidFill>
                          <a:latin typeface="Arial"/>
                        </a:rPr>
                        <a:t>Student</a:t>
                      </a:r>
                    </a:p>
                  </a:txBody>
                  <a:tcPr>
                    <a:solidFill>
                      <a:srgbClr val="8B1538"/>
                    </a:solidFill>
                  </a:tcPr>
                </a:tc>
                <a:tc>
                  <a:txBody>
                    <a:bodyPr/>
                    <a:lstStyle/>
                    <a:p>
                      <a:pPr algn="l">
                        <a:defRPr sz="1800" b="1" i="0">
                          <a:solidFill>
                            <a:srgbClr val="FFFFFF"/>
                          </a:solidFill>
                          <a:latin typeface="Arial"/>
                        </a:defRPr>
                      </a:pPr>
                      <a:r>
                        <a:rPr sz="1800" b="1" i="0">
                          <a:solidFill>
                            <a:srgbClr val="FFFFFF"/>
                          </a:solidFill>
                          <a:latin typeface="Arial"/>
                        </a:rPr>
                        <a:t>Task</a:t>
                      </a:r>
                    </a:p>
                  </a:txBody>
                  <a:tcPr>
                    <a:solidFill>
                      <a:srgbClr val="8B1538"/>
                    </a:solidFill>
                  </a:tcPr>
                </a:tc>
                <a:tc>
                  <a:txBody>
                    <a:bodyPr/>
                    <a:lstStyle/>
                    <a:p>
                      <a:pPr algn="l">
                        <a:defRPr sz="1800" b="1" i="0">
                          <a:solidFill>
                            <a:srgbClr val="FFFFFF"/>
                          </a:solidFill>
                          <a:latin typeface="Arial"/>
                        </a:defRPr>
                      </a:pPr>
                      <a:r>
                        <a:rPr sz="1800" b="1" i="0">
                          <a:solidFill>
                            <a:srgbClr val="FFFFFF"/>
                          </a:solidFill>
                          <a:latin typeface="Arial"/>
                        </a:rPr>
                        <a:t>Score</a:t>
                      </a:r>
                    </a:p>
                  </a:txBody>
                  <a:tcPr>
                    <a:solidFill>
                      <a:srgbClr val="8B1538"/>
                    </a:solidFill>
                  </a:tcPr>
                </a:tc>
              </a:tr>
              <a:tr h="1097280">
                <a:tc>
                  <a:txBody>
                    <a:bodyPr/>
                    <a:lstStyle/>
                    <a:p>
                      <a:pPr algn="l">
                        <a:defRPr sz="1600" b="0" i="0">
                          <a:solidFill>
                            <a:srgbClr val="333333"/>
                          </a:solidFill>
                          <a:latin typeface="Arial"/>
                        </a:defRPr>
                      </a:pPr>
                      <a:r>
                        <a:rPr sz="1600" b="0" i="0">
                          <a:solidFill>
                            <a:srgbClr val="333333"/>
                          </a:solidFill>
                          <a:latin typeface="Arial"/>
                        </a:rPr>
                        <a:t>Brenda</a:t>
                      </a:r>
                    </a:p>
                  </a:txBody>
                  <a:tcPr/>
                </a:tc>
                <a:tc>
                  <a:txBody>
                    <a:bodyPr/>
                    <a:lstStyle/>
                    <a:p>
                      <a:pPr algn="l">
                        <a:defRPr sz="1600" b="0" i="0">
                          <a:solidFill>
                            <a:srgbClr val="333333"/>
                          </a:solidFill>
                          <a:latin typeface="Arial"/>
                        </a:defRPr>
                      </a:pPr>
                      <a:r>
                        <a:rPr sz="1600" b="0" i="0">
                          <a:solidFill>
                            <a:srgbClr val="333333"/>
                          </a:solidFill>
                          <a:latin typeface="Arial"/>
                        </a:rPr>
                        <a:t>Health Bench</a:t>
                      </a:r>
                    </a:p>
                  </a:txBody>
                  <a:tcPr/>
                </a:tc>
                <a:tc>
                  <a:txBody>
                    <a:bodyPr/>
                    <a:lstStyle/>
                    <a:p>
                      <a:pPr algn="l">
                        <a:defRPr sz="1600" b="0" i="0">
                          <a:solidFill>
                            <a:srgbClr val="333333"/>
                          </a:solidFill>
                          <a:latin typeface="Arial"/>
                        </a:defRPr>
                      </a:pPr>
                      <a:r>
                        <a:rPr sz="1600" b="0" i="0">
                          <a:solidFill>
                            <a:srgbClr val="333333"/>
                          </a:solidFill>
                          <a:latin typeface="Arial"/>
                        </a:rPr>
                        <a:t>100</a:t>
                      </a:r>
                    </a:p>
                  </a:txBody>
                  <a:tcPr/>
                </a:tc>
              </a:tr>
              <a:tr h="1097280">
                <a:tc>
                  <a:txBody>
                    <a:bodyPr/>
                    <a:lstStyle/>
                    <a:p>
                      <a:pPr algn="l">
                        <a:defRPr sz="1600" b="0" i="0">
                          <a:solidFill>
                            <a:srgbClr val="333333"/>
                          </a:solidFill>
                          <a:latin typeface="Arial"/>
                        </a:defRPr>
                      </a:pPr>
                      <a:r>
                        <a:rPr sz="1600" b="0" i="0">
                          <a:solidFill>
                            <a:srgbClr val="333333"/>
                          </a:solidFill>
                          <a:latin typeface="Arial"/>
                        </a:rPr>
                        <a:t>James</a:t>
                      </a:r>
                    </a:p>
                  </a:txBody>
                  <a:tcPr/>
                </a:tc>
                <a:tc>
                  <a:txBody>
                    <a:bodyPr/>
                    <a:lstStyle/>
                    <a:p>
                      <a:pPr algn="l">
                        <a:defRPr sz="1600" b="0" i="0">
                          <a:solidFill>
                            <a:srgbClr val="333333"/>
                          </a:solidFill>
                          <a:latin typeface="Arial"/>
                        </a:defRPr>
                      </a:pPr>
                      <a:r>
                        <a:rPr sz="1600" b="0" i="0">
                          <a:solidFill>
                            <a:srgbClr val="333333"/>
                          </a:solidFill>
                          <a:latin typeface="Arial"/>
                        </a:rPr>
                        <a:t>Health Bench</a:t>
                      </a:r>
                    </a:p>
                  </a:txBody>
                  <a:tcPr/>
                </a:tc>
                <a:tc>
                  <a:txBody>
                    <a:bodyPr/>
                    <a:lstStyle/>
                    <a:p>
                      <a:pPr algn="l">
                        <a:defRPr sz="1600" b="0" i="0">
                          <a:solidFill>
                            <a:srgbClr val="333333"/>
                          </a:solidFill>
                          <a:latin typeface="Arial"/>
                        </a:defRPr>
                      </a:pPr>
                      <a:r>
                        <a:rPr sz="1600" b="0" i="0">
                          <a:solidFill>
                            <a:srgbClr val="333333"/>
                          </a:solidFill>
                          <a:latin typeface="Arial"/>
                        </a:rPr>
                        <a:t>90</a:t>
                      </a:r>
                    </a:p>
                  </a:txBody>
                  <a:tcPr/>
                </a:tc>
              </a:tr>
              <a:tr h="1097280">
                <a:tc>
                  <a:txBody>
                    <a:bodyPr/>
                    <a:lstStyle/>
                    <a:p>
                      <a:pPr algn="l">
                        <a:defRPr sz="1600" b="0" i="0">
                          <a:solidFill>
                            <a:srgbClr val="333333"/>
                          </a:solidFill>
                          <a:latin typeface="Arial"/>
                        </a:defRPr>
                      </a:pPr>
                      <a:r>
                        <a:rPr sz="1600" b="0" i="0">
                          <a:solidFill>
                            <a:srgbClr val="333333"/>
                          </a:solidFill>
                          <a:latin typeface="Arial"/>
                        </a:rPr>
                        <a:t>Matias</a:t>
                      </a:r>
                    </a:p>
                  </a:txBody>
                  <a:tcPr/>
                </a:tc>
                <a:tc>
                  <a:txBody>
                    <a:bodyPr/>
                    <a:lstStyle/>
                    <a:p>
                      <a:pPr algn="l">
                        <a:defRPr sz="1600" b="0" i="0">
                          <a:solidFill>
                            <a:srgbClr val="333333"/>
                          </a:solidFill>
                          <a:latin typeface="Arial"/>
                        </a:defRPr>
                      </a:pPr>
                      <a:r>
                        <a:rPr sz="1600" b="0" i="0">
                          <a:solidFill>
                            <a:srgbClr val="333333"/>
                          </a:solidFill>
                          <a:latin typeface="Arial"/>
                        </a:rPr>
                        <a:t>Health Bench</a:t>
                      </a:r>
                    </a:p>
                  </a:txBody>
                  <a:tcPr/>
                </a:tc>
                <a:tc>
                  <a:txBody>
                    <a:bodyPr/>
                    <a:lstStyle/>
                    <a:p>
                      <a:pPr algn="l">
                        <a:defRPr sz="1600" b="0" i="0">
                          <a:solidFill>
                            <a:srgbClr val="333333"/>
                          </a:solidFill>
                          <a:latin typeface="Arial"/>
                        </a:defRPr>
                      </a:pPr>
                      <a:r>
                        <a:rPr sz="1600" b="0" i="0">
                          <a:solidFill>
                            <a:srgbClr val="333333"/>
                          </a:solidFill>
                          <a:latin typeface="Arial"/>
                        </a:rPr>
                        <a:t>90</a:t>
                      </a:r>
                    </a:p>
                  </a:txBody>
                  <a:tcPr/>
                </a:tc>
              </a:tr>
              <a:tr h="1097280">
                <a:tc>
                  <a:txBody>
                    <a:bodyPr/>
                    <a:lstStyle/>
                    <a:p>
                      <a:pPr algn="l">
                        <a:defRPr sz="1600" b="0" i="0">
                          <a:solidFill>
                            <a:srgbClr val="333333"/>
                          </a:solidFill>
                          <a:latin typeface="Arial"/>
                        </a:defRPr>
                      </a:pPr>
                      <a:r>
                        <a:rPr sz="1600" b="0" i="0">
                          <a:solidFill>
                            <a:srgbClr val="333333"/>
                          </a:solidFill>
                          <a:latin typeface="Arial"/>
                        </a:rPr>
                        <a:t>Brenda</a:t>
                      </a:r>
                    </a:p>
                  </a:txBody>
                  <a:tcPr/>
                </a:tc>
                <a:tc>
                  <a:txBody>
                    <a:bodyPr/>
                    <a:lstStyle/>
                    <a:p>
                      <a:pPr algn="l">
                        <a:defRPr sz="1600" b="0" i="0">
                          <a:solidFill>
                            <a:srgbClr val="333333"/>
                          </a:solidFill>
                          <a:latin typeface="Arial"/>
                        </a:defRPr>
                      </a:pPr>
                      <a:r>
                        <a:rPr sz="1600" b="0" i="0">
                          <a:solidFill>
                            <a:srgbClr val="333333"/>
                          </a:solidFill>
                          <a:latin typeface="Arial"/>
                        </a:rPr>
                        <a:t>Extra Credit (Bronx Panel)</a:t>
                      </a:r>
                    </a:p>
                  </a:txBody>
                  <a:tcPr/>
                </a:tc>
                <a:tc>
                  <a:txBody>
                    <a:bodyPr/>
                    <a:lstStyle/>
                    <a:p>
                      <a:pPr algn="l">
                        <a:defRPr sz="1600" b="0" i="0">
                          <a:solidFill>
                            <a:srgbClr val="333333"/>
                          </a:solidFill>
                          <a:latin typeface="Arial"/>
                        </a:defRPr>
                      </a:pPr>
                      <a:r>
                        <a:rPr sz="1600" b="0" i="0">
                          <a:solidFill>
                            <a:srgbClr val="333333"/>
                          </a:solidFill>
                          <a:latin typeface="Arial"/>
                        </a:rPr>
                        <a:t>90</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WRAP-UP</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Common Patterns Across Submissions</a:t>
            </a:r>
          </a:p>
        </p:txBody>
      </p:sp>
      <p:sp>
        <p:nvSpPr>
          <p:cNvPr id="4" name="TextBox 3"/>
          <p:cNvSpPr txBox="1"/>
          <p:nvPr/>
        </p:nvSpPr>
        <p:spPr>
          <a:xfrm>
            <a:off x="914400" y="1783080"/>
            <a:ext cx="7680960" cy="548640"/>
          </a:xfrm>
          <a:prstGeom prst="rect">
            <a:avLst/>
          </a:prstGeom>
          <a:noFill/>
        </p:spPr>
        <p:txBody>
          <a:bodyPr wrap="none">
            <a:spAutoFit/>
          </a:bodyPr>
          <a:lstStyle/>
          <a:p>
            <a:pPr algn="l">
              <a:defRPr sz="2100" b="1" i="0">
                <a:solidFill>
                  <a:srgbClr val="8B1538"/>
                </a:solidFill>
                <a:latin typeface="Arial"/>
              </a:defRPr>
            </a:pPr>
            <a:r>
              <a:t>What Went Well</a:t>
            </a:r>
          </a:p>
        </p:txBody>
      </p:sp>
      <p:sp>
        <p:nvSpPr>
          <p:cNvPr id="5" name="TextBox 4"/>
          <p:cNvSpPr txBox="1"/>
          <p:nvPr/>
        </p:nvSpPr>
        <p:spPr>
          <a:xfrm>
            <a:off x="914400" y="2468880"/>
            <a:ext cx="7680960" cy="6172200"/>
          </a:xfrm>
          <a:prstGeom prst="rect">
            <a:avLst/>
          </a:prstGeom>
          <a:noFill/>
        </p:spPr>
        <p:txBody>
          <a:bodyPr wrap="square">
            <a:spAutoFit/>
          </a:bodyPr>
          <a:lstStyle/>
          <a:p>
            <a:pPr algn="l">
              <a:defRPr sz="3000" b="0" i="0">
                <a:solidFill>
                  <a:srgbClr val="333333"/>
                </a:solidFill>
                <a:latin typeface="Arial"/>
              </a:defRPr>
            </a:pPr>
            <a:r>
              <a:rPr sz="3000" b="0" i="0">
                <a:solidFill>
                  <a:srgbClr val="333333"/>
                </a:solidFill>
                <a:latin typeface="Arial"/>
              </a:rPr>
              <a:t>• Strong medication risk identification</a:t>
            </a:r>
          </a:p>
          <a:p>
            <a:pPr algn="l">
              <a:defRPr sz="3000" b="0" i="0">
                <a:solidFill>
                  <a:srgbClr val="333333"/>
                </a:solidFill>
                <a:latin typeface="Arial"/>
              </a:defRPr>
            </a:pPr>
            <a:r>
              <a:rPr sz="3000" b="0" i="0">
                <a:solidFill>
                  <a:srgbClr val="333333"/>
                </a:solidFill>
                <a:latin typeface="Arial"/>
              </a:rPr>
              <a:t>• Good use of specific chart evidence</a:t>
            </a:r>
          </a:p>
          <a:p>
            <a:pPr algn="l">
              <a:defRPr sz="3000" b="0" i="0">
                <a:solidFill>
                  <a:srgbClr val="333333"/>
                </a:solidFill>
                <a:latin typeface="Arial"/>
              </a:defRPr>
            </a:pPr>
            <a:r>
              <a:rPr sz="3000" b="0" i="0">
                <a:solidFill>
                  <a:srgbClr val="333333"/>
                </a:solidFill>
                <a:latin typeface="Arial"/>
              </a:rPr>
              <a:t>• Thoughtful RAG comparison observations</a:t>
            </a:r>
          </a:p>
          <a:p>
            <a:pPr algn="l">
              <a:defRPr sz="3000" b="0" i="0">
                <a:solidFill>
                  <a:srgbClr val="333333"/>
                </a:solidFill>
                <a:latin typeface="Arial"/>
              </a:defRPr>
            </a:pPr>
            <a:r>
              <a:rPr sz="3000" b="0" i="0">
                <a:solidFill>
                  <a:srgbClr val="333333"/>
                </a:solidFill>
                <a:latin typeface="Arial"/>
              </a:rPr>
              <a:t>• Most teams caught the triple whammy</a:t>
            </a:r>
          </a:p>
        </p:txBody>
      </p:sp>
      <p:sp>
        <p:nvSpPr>
          <p:cNvPr id="6" name="TextBox 5"/>
          <p:cNvSpPr txBox="1"/>
          <p:nvPr/>
        </p:nvSpPr>
        <p:spPr>
          <a:xfrm>
            <a:off x="9144000" y="1783080"/>
            <a:ext cx="7680960" cy="548640"/>
          </a:xfrm>
          <a:prstGeom prst="rect">
            <a:avLst/>
          </a:prstGeom>
          <a:noFill/>
        </p:spPr>
        <p:txBody>
          <a:bodyPr wrap="none">
            <a:spAutoFit/>
          </a:bodyPr>
          <a:lstStyle/>
          <a:p>
            <a:pPr algn="l">
              <a:defRPr sz="2100" b="1" i="0">
                <a:solidFill>
                  <a:srgbClr val="8B1538"/>
                </a:solidFill>
                <a:latin typeface="Arial"/>
              </a:defRPr>
            </a:pPr>
            <a:r>
              <a:t>Growth Areas</a:t>
            </a:r>
          </a:p>
        </p:txBody>
      </p:sp>
      <p:sp>
        <p:nvSpPr>
          <p:cNvPr id="7" name="TextBox 6"/>
          <p:cNvSpPr txBox="1"/>
          <p:nvPr/>
        </p:nvSpPr>
        <p:spPr>
          <a:xfrm>
            <a:off x="9144000" y="2468880"/>
            <a:ext cx="7680960" cy="6172200"/>
          </a:xfrm>
          <a:prstGeom prst="rect">
            <a:avLst/>
          </a:prstGeom>
          <a:noFill/>
        </p:spPr>
        <p:txBody>
          <a:bodyPr wrap="square">
            <a:spAutoFit/>
          </a:bodyPr>
          <a:lstStyle/>
          <a:p>
            <a:pPr algn="l">
              <a:defRPr sz="3000" b="0" i="0">
                <a:solidFill>
                  <a:srgbClr val="333333"/>
                </a:solidFill>
                <a:latin typeface="Arial"/>
              </a:defRPr>
            </a:pPr>
            <a:r>
              <a:rPr sz="3000" b="0" i="0">
                <a:solidFill>
                  <a:srgbClr val="333333"/>
                </a:solidFill>
                <a:latin typeface="Arial"/>
              </a:rPr>
              <a:t>• RAG uncertainty calibration — some accepted RAG ON at face value</a:t>
            </a:r>
          </a:p>
          <a:p>
            <a:pPr algn="l">
              <a:defRPr sz="3000" b="0" i="0">
                <a:solidFill>
                  <a:srgbClr val="333333"/>
                </a:solidFill>
                <a:latin typeface="Arial"/>
              </a:defRPr>
            </a:pPr>
            <a:r>
              <a:rPr sz="3000" b="0" i="0">
                <a:solidFill>
                  <a:srgbClr val="333333"/>
                </a:solidFill>
                <a:latin typeface="Arial"/>
              </a:rPr>
              <a:t>• Privacy reasoning sometimes stayed general vs. case-specific</a:t>
            </a:r>
          </a:p>
          <a:p>
            <a:pPr algn="l">
              <a:defRPr sz="3000" b="0" i="0">
                <a:solidFill>
                  <a:srgbClr val="333333"/>
                </a:solidFill>
                <a:latin typeface="Arial"/>
              </a:defRPr>
            </a:pPr>
            <a:r>
              <a:rPr sz="3000" b="0" i="0">
                <a:solidFill>
                  <a:srgbClr val="333333"/>
                </a:solidFill>
                <a:latin typeface="Arial"/>
              </a:rPr>
              <a:t>• Citing dates alongside values (March 1 vs. March 15 matters)</a:t>
            </a:r>
          </a:p>
          <a:p>
            <a:pPr algn="l">
              <a:defRPr sz="3000" b="0" i="0">
                <a:solidFill>
                  <a:srgbClr val="333333"/>
                </a:solidFill>
                <a:latin typeface="Arial"/>
              </a:defRPr>
            </a:pPr>
            <a:r>
              <a:rPr sz="3000" b="0" i="0">
                <a:solidFill>
                  <a:srgbClr val="333333"/>
                </a:solidFill>
                <a:latin typeface="Arial"/>
              </a:rPr>
              <a:t>• Checking visit notes, not just Labs tab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WRAP-UP</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Five Things to Remember</a:t>
            </a:r>
          </a:p>
        </p:txBody>
      </p:sp>
      <p:sp>
        <p:nvSpPr>
          <p:cNvPr id="4" name="TextBox 3"/>
          <p:cNvSpPr txBox="1"/>
          <p:nvPr/>
        </p:nvSpPr>
        <p:spPr>
          <a:xfrm>
            <a:off x="914400" y="2468880"/>
            <a:ext cx="16459200" cy="6858000"/>
          </a:xfrm>
          <a:prstGeom prst="rect">
            <a:avLst/>
          </a:prstGeom>
          <a:noFill/>
        </p:spPr>
        <p:txBody>
          <a:bodyPr wrap="square">
            <a:spAutoFit/>
          </a:bodyPr>
          <a:lstStyle/>
          <a:p>
            <a:pPr algn="l">
              <a:spcAft>
                <a:spcPts val="400"/>
              </a:spcAft>
              <a:defRPr sz="2700" b="0" i="0">
                <a:solidFill>
                  <a:srgbClr val="333333"/>
                </a:solidFill>
                <a:latin typeface="Arial"/>
              </a:defRPr>
            </a:pPr>
            <a:r>
              <a:rPr sz="2700" b="0" i="0">
                <a:solidFill>
                  <a:srgbClr val="333333"/>
                </a:solidFill>
                <a:latin typeface="Arial"/>
              </a:rPr>
              <a:t>• 1. Always read visit notes, not just structured tabs — key values hide in narrative</a:t>
            </a:r>
          </a:p>
          <a:p>
            <a:pPr algn="l">
              <a:spcAft>
                <a:spcPts val="400"/>
              </a:spcAft>
              <a:defRPr sz="2700" b="0" i="0">
                <a:solidFill>
                  <a:srgbClr val="333333"/>
                </a:solidFill>
                <a:latin typeface="Arial"/>
              </a:defRPr>
            </a:pPr>
            <a:r>
              <a:rPr sz="2700" b="0" i="0">
                <a:solidFill>
                  <a:srgbClr val="333333"/>
                </a:solidFill>
                <a:latin typeface="Arial"/>
              </a:rPr>
              <a:t>• 2. RAG improves grounding but can create false confidence from incomplete retrieval</a:t>
            </a:r>
          </a:p>
          <a:p>
            <a:pPr algn="l">
              <a:spcAft>
                <a:spcPts val="400"/>
              </a:spcAft>
              <a:defRPr sz="2700" b="0" i="0">
                <a:solidFill>
                  <a:srgbClr val="333333"/>
                </a:solidFill>
                <a:latin typeface="Arial"/>
              </a:defRPr>
            </a:pPr>
            <a:r>
              <a:rPr sz="2700" b="0" i="0">
                <a:solidFill>
                  <a:srgbClr val="333333"/>
                </a:solidFill>
                <a:latin typeface="Arial"/>
              </a:rPr>
              <a:t>• 3. "Minimum necessary" means justify what you include AND what you exclude</a:t>
            </a:r>
          </a:p>
          <a:p>
            <a:pPr algn="l">
              <a:spcAft>
                <a:spcPts val="400"/>
              </a:spcAft>
              <a:defRPr sz="2700" b="0" i="0">
                <a:solidFill>
                  <a:srgbClr val="333333"/>
                </a:solidFill>
                <a:latin typeface="Arial"/>
              </a:defRPr>
            </a:pPr>
            <a:r>
              <a:rPr sz="2700" b="0" i="0">
                <a:solidFill>
                  <a:srgbClr val="333333"/>
                </a:solidFill>
                <a:latin typeface="Arial"/>
              </a:rPr>
              <a:t>• 4. Cite specific values, dates, and medications — not vague claims</a:t>
            </a:r>
          </a:p>
          <a:p>
            <a:pPr algn="l">
              <a:spcAft>
                <a:spcPts val="400"/>
              </a:spcAft>
              <a:defRPr sz="2700" b="0" i="0">
                <a:solidFill>
                  <a:srgbClr val="333333"/>
                </a:solidFill>
                <a:latin typeface="Arial"/>
              </a:defRPr>
            </a:pPr>
            <a:r>
              <a:rPr sz="2700" b="0" i="0">
                <a:solidFill>
                  <a:srgbClr val="333333"/>
                </a:solidFill>
                <a:latin typeface="Arial"/>
              </a:rPr>
              <a:t>• 5. AI governance = knowing when to trust, when to verify, and what to withhold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7315200" cy="342900"/>
          </a:xfrm>
          <a:prstGeom prst="rect">
            <a:avLst/>
          </a:prstGeom>
          <a:noFill/>
        </p:spPr>
        <p:txBody>
          <a:bodyPr wrap="none">
            <a:spAutoFit/>
          </a:bodyPr>
          <a:lstStyle/>
          <a:p>
            <a:pPr algn="l">
              <a:defRPr sz="1500" b="0" i="0">
                <a:solidFill>
                  <a:srgbClr val="8B1538"/>
                </a:solidFill>
                <a:latin typeface="Arial"/>
              </a:defRPr>
            </a:pPr>
            <a:r>
              <a:rPr sz="1500" b="0" i="0">
                <a:solidFill>
                  <a:srgbClr val="8B1538"/>
                </a:solidFill>
                <a:latin typeface="Arial"/>
              </a:rPr>
              <a:t>WRAP-UP</a:t>
            </a:r>
          </a:p>
        </p:txBody>
      </p:sp>
      <p:sp>
        <p:nvSpPr>
          <p:cNvPr id="3" name="TextBox 2"/>
          <p:cNvSpPr txBox="1"/>
          <p:nvPr/>
        </p:nvSpPr>
        <p:spPr>
          <a:xfrm>
            <a:off x="914400" y="822960"/>
            <a:ext cx="16459200" cy="822960"/>
          </a:xfrm>
          <a:prstGeom prst="rect">
            <a:avLst/>
          </a:prstGeom>
          <a:noFill/>
        </p:spPr>
        <p:txBody>
          <a:bodyPr wrap="none">
            <a:spAutoFit/>
          </a:bodyPr>
          <a:lstStyle/>
          <a:p>
            <a:pPr algn="l">
              <a:defRPr sz="4200" b="1" i="0">
                <a:solidFill>
                  <a:srgbClr val="8B1538"/>
                </a:solidFill>
                <a:latin typeface="Arial"/>
              </a:defRPr>
            </a:pPr>
            <a:r>
              <a:rPr sz="4200" b="1" i="0">
                <a:solidFill>
                  <a:srgbClr val="8B1538"/>
                </a:solidFill>
                <a:latin typeface="Arial"/>
              </a:rPr>
              <a:t>Debrief Discussion</a:t>
            </a:r>
          </a:p>
        </p:txBody>
      </p:sp>
      <p:sp>
        <p:nvSpPr>
          <p:cNvPr id="4" name="TextBox 3"/>
          <p:cNvSpPr txBox="1"/>
          <p:nvPr/>
        </p:nvSpPr>
        <p:spPr>
          <a:xfrm>
            <a:off x="914400" y="1783080"/>
            <a:ext cx="16459200" cy="548640"/>
          </a:xfrm>
          <a:prstGeom prst="rect">
            <a:avLst/>
          </a:prstGeom>
          <a:noFill/>
        </p:spPr>
        <p:txBody>
          <a:bodyPr wrap="none">
            <a:spAutoFit/>
          </a:bodyPr>
          <a:lstStyle/>
          <a:p>
            <a:pPr algn="l">
              <a:defRPr sz="2100" b="0" i="0">
                <a:solidFill>
                  <a:srgbClr val="8B1538"/>
                </a:solidFill>
                <a:latin typeface="Arial"/>
              </a:defRPr>
            </a:pPr>
            <a:r>
              <a:rPr sz="2100" b="0" i="0">
                <a:solidFill>
                  <a:srgbClr val="8B1538"/>
                </a:solidFill>
                <a:latin typeface="Arial"/>
              </a:rPr>
              <a:t>Take 2 minutes to discuss with your neighbor, then we'll share out</a:t>
            </a:r>
          </a:p>
        </p:txBody>
      </p:sp>
      <p:sp>
        <p:nvSpPr>
          <p:cNvPr id="5" name="TextBox 4"/>
          <p:cNvSpPr txBox="1"/>
          <p:nvPr/>
        </p:nvSpPr>
        <p:spPr>
          <a:xfrm>
            <a:off x="914400" y="2468880"/>
            <a:ext cx="16459200" cy="6858000"/>
          </a:xfrm>
          <a:prstGeom prst="rect">
            <a:avLst/>
          </a:prstGeom>
          <a:noFill/>
        </p:spPr>
        <p:txBody>
          <a:bodyPr wrap="square">
            <a:spAutoFit/>
          </a:bodyPr>
          <a:lstStyle/>
          <a:p>
            <a:pPr algn="l">
              <a:spcAft>
                <a:spcPts val="400"/>
              </a:spcAft>
              <a:defRPr sz="2700" b="1" i="0">
                <a:solidFill>
                  <a:srgbClr val="333333"/>
                </a:solidFill>
                <a:latin typeface="Arial"/>
              </a:defRPr>
            </a:pPr>
            <a:r>
              <a:rPr sz="2700" b="1" i="0">
                <a:solidFill>
                  <a:srgbClr val="333333"/>
                </a:solidFill>
                <a:latin typeface="Arial"/>
              </a:rPr>
              <a:t>Questions for the Room</a:t>
            </a:r>
          </a:p>
          <a:p>
            <a:pPr algn="l">
              <a:spcAft>
                <a:spcPts val="400"/>
              </a:spcAft>
              <a:defRPr sz="2600" b="0" i="0">
                <a:solidFill>
                  <a:srgbClr val="333333"/>
                </a:solidFill>
                <a:latin typeface="Arial"/>
              </a:defRPr>
            </a:pPr>
            <a:r>
              <a:rPr sz="2600" b="0" i="0">
                <a:solidFill>
                  <a:srgbClr val="333333"/>
                </a:solidFill>
                <a:latin typeface="Arial"/>
              </a:rPr>
              <a:t>• 1. "If you could redesign one thing about the ChatEHR interface to improve patient safety, what would it be?"</a:t>
            </a:r>
          </a:p>
          <a:p>
            <a:pPr algn="l">
              <a:spcAft>
                <a:spcPts val="400"/>
              </a:spcAft>
              <a:defRPr sz="2600" b="0" i="0">
                <a:solidFill>
                  <a:srgbClr val="333333"/>
                </a:solidFill>
                <a:latin typeface="Arial"/>
              </a:defRPr>
            </a:pPr>
            <a:r>
              <a:rPr sz="2600" b="0" i="0">
                <a:solidFill>
                  <a:srgbClr val="333333"/>
                </a:solidFill>
                <a:latin typeface="Arial"/>
              </a:rPr>
              <a:t>• 2. "When should a clinician override an AI recommendation — even if the AI cites chart evidence to support it?"</a:t>
            </a:r>
          </a:p>
          <a:p>
            <a:pPr algn="l">
              <a:spcAft>
                <a:spcPts val="400"/>
              </a:spcAft>
              <a:defRPr sz="2600" b="0" i="0">
                <a:solidFill>
                  <a:srgbClr val="333333"/>
                </a:solidFill>
                <a:latin typeface="Arial"/>
              </a:defRPr>
            </a:pPr>
            <a:r>
              <a:rPr sz="2600" b="0" i="0">
                <a:solidFill>
                  <a:srgbClr val="333333"/>
                </a:solidFill>
                <a:latin typeface="Arial"/>
              </a:rPr>
              <a:t>• 3. "How would you explain the minimum necessary principle to a hospital administrator who wants to give AI full access to all patient data?"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8B1538"/>
        </a:solidFill>
        <a:effectLst/>
      </p:bgPr>
    </p:bg>
    <p:spTree>
      <p:nvGrpSpPr>
        <p:cNvPr id="1" name=""/>
        <p:cNvGrpSpPr/>
        <p:nvPr/>
      </p:nvGrpSpPr>
      <p:grpSpPr/>
      <p:sp>
        <p:nvSpPr>
          <p:cNvPr id="2" name="TextBox 1"/>
          <p:cNvSpPr txBox="1"/>
          <p:nvPr/>
        </p:nvSpPr>
        <p:spPr>
          <a:xfrm>
            <a:off x="914400" y="3840480"/>
            <a:ext cx="16459200" cy="1097280"/>
          </a:xfrm>
          <a:prstGeom prst="rect">
            <a:avLst/>
          </a:prstGeom>
          <a:noFill/>
        </p:spPr>
        <p:txBody>
          <a:bodyPr wrap="none">
            <a:spAutoFit/>
          </a:bodyPr>
          <a:lstStyle/>
          <a:p>
            <a:pPr algn="ctr">
              <a:defRPr sz="5400" b="1" i="0">
                <a:solidFill>
                  <a:srgbClr val="FFFFFF"/>
                </a:solidFill>
                <a:latin typeface="Arial"/>
              </a:defRPr>
            </a:pPr>
            <a:r>
              <a:rPr sz="5400" b="1" i="0">
                <a:solidFill>
                  <a:srgbClr val="FFFFFF"/>
                </a:solidFill>
                <a:latin typeface="Arial"/>
              </a:rPr>
              <a:t>Thank You</a:t>
            </a:r>
          </a:p>
        </p:txBody>
      </p:sp>
      <p:sp>
        <p:nvSpPr>
          <p:cNvPr id="3" name="TextBox 2"/>
          <p:cNvSpPr txBox="1"/>
          <p:nvPr/>
        </p:nvSpPr>
        <p:spPr>
          <a:xfrm>
            <a:off x="914400" y="5212080"/>
            <a:ext cx="16459200" cy="822960"/>
          </a:xfrm>
          <a:prstGeom prst="rect">
            <a:avLst/>
          </a:prstGeom>
          <a:noFill/>
        </p:spPr>
        <p:txBody>
          <a:bodyPr wrap="none">
            <a:spAutoFit/>
          </a:bodyPr>
          <a:lstStyle/>
          <a:p>
            <a:pPr algn="ctr">
              <a:defRPr sz="2700" b="0" i="0">
                <a:solidFill>
                  <a:srgbClr val="FFFFFF"/>
                </a:solidFill>
                <a:latin typeface="Arial"/>
              </a:defRPr>
            </a:pPr>
            <a:r>
              <a:rPr sz="2700" b="0" i="0">
                <a:solidFill>
                  <a:srgbClr val="FFFFFF"/>
                </a:solidFill>
                <a:latin typeface="Arial"/>
              </a:rPr>
              <a:t>Next week: Module continues — bring your questions</a:t>
            </a:r>
          </a:p>
        </p:txBody>
      </p:sp>
      <p:sp>
        <p:nvSpPr>
          <p:cNvPr id="4" name="TextBox 3"/>
          <p:cNvSpPr txBox="1"/>
          <p:nvPr/>
        </p:nvSpPr>
        <p:spPr>
          <a:xfrm>
            <a:off x="914400" y="6583680"/>
            <a:ext cx="16459200" cy="822960"/>
          </a:xfrm>
          <a:prstGeom prst="rect">
            <a:avLst/>
          </a:prstGeom>
          <a:noFill/>
        </p:spPr>
        <p:txBody>
          <a:bodyPr wrap="none">
            <a:spAutoFit/>
          </a:bodyPr>
          <a:lstStyle/>
          <a:p>
            <a:pPr algn="ctr">
              <a:defRPr sz="1800" b="0" i="0">
                <a:solidFill>
                  <a:srgbClr val="FFFFFF"/>
                </a:solidFill>
                <a:latin typeface="Arial"/>
              </a:defRPr>
            </a:pPr>
            <a:r>
              <a:rPr sz="1800" b="0" i="0">
                <a:solidFill>
                  <a:srgbClr val="FFFFFF"/>
                </a:solidFill>
                <a:latin typeface="Arial"/>
              </a:rPr>
              <a:t>HINF 6117 | ChatEHR Lab Review | Fordham University</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